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Aeronex turns sensor readings into zone AQI, a transparent source hypothesis, anomaly events and short forecasts. Two roles: public users and officials. Data is simulated via a gateway that speaks the real data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sensors to gateway to FastAPI ingest to SQLite to the analytics worker to the website and Streamlit dashboard, all served from one port. Reliability: gateway buffers if the backend is down; unique (device, sequence) key makes resends safe. Analytics: linear-regression forecast, robust-statistics anomaly detection, rule-based source 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Aeronex does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air-quality intelligence for Hyderabad</a:t>
            </a:r>
            <a:endParaRPr lang="en-US" sz="1400" dirty="0"/>
          </a:p>
        </p:txBody>
      </p:sp>
      <p:sp>
        <p:nvSpPr>
          <p:cNvPr id="4" name="Flow Collect"/>
          <p:cNvSpPr/>
          <p:nvPr/>
        </p:nvSpPr>
        <p:spPr>
          <a:xfrm>
            <a:off x="457200" y="128016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5" name="Step 1"/>
          <p:cNvSpPr/>
          <p:nvPr/>
        </p:nvSpPr>
        <p:spPr>
          <a:xfrm>
            <a:off x="548640" y="137160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371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1280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sensor nodes (7 fixed, 4 on buses) in 6 corridors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280160"/>
            <a:ext cx="228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Flow Compute AQI"/>
          <p:cNvSpPr/>
          <p:nvPr/>
        </p:nvSpPr>
        <p:spPr>
          <a:xfrm>
            <a:off x="2148840" y="128016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1" name="Step 2"/>
          <p:cNvSpPr/>
          <p:nvPr/>
        </p:nvSpPr>
        <p:spPr>
          <a:xfrm>
            <a:off x="2240280" y="137160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87752" y="1371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AQI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1737360"/>
            <a:ext cx="1280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PM2.5 and PM10 on the Indian (CPCB) bands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1280160"/>
            <a:ext cx="228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Flow Suggest source"/>
          <p:cNvSpPr/>
          <p:nvPr/>
        </p:nvSpPr>
        <p:spPr>
          <a:xfrm>
            <a:off x="3840480" y="128016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Step 3"/>
          <p:cNvSpPr/>
          <p:nvPr/>
        </p:nvSpPr>
        <p:spPr>
          <a:xfrm>
            <a:off x="3931920" y="137160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3192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79392" y="1371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source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1737360"/>
            <a:ext cx="1280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source with a confidence score, or “insufficient evidence”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1280160"/>
            <a:ext cx="228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Flow Flag events"/>
          <p:cNvSpPr/>
          <p:nvPr/>
        </p:nvSpPr>
        <p:spPr>
          <a:xfrm>
            <a:off x="5532120" y="128016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3" name="Step 4"/>
          <p:cNvSpPr/>
          <p:nvPr/>
        </p:nvSpPr>
        <p:spPr>
          <a:xfrm>
            <a:off x="5623560" y="1371600"/>
            <a:ext cx="292608" cy="2926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2356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71032" y="1371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events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1737360"/>
            <a:ext cx="1280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go from detected to confirmed to a recommended action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1280160"/>
            <a:ext cx="228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Flow Forecast"/>
          <p:cNvSpPr/>
          <p:nvPr/>
        </p:nvSpPr>
        <p:spPr>
          <a:xfrm>
            <a:off x="7223760" y="1280160"/>
            <a:ext cx="1463040" cy="1325880"/>
          </a:xfrm>
          <a:prstGeom prst="roundRect">
            <a:avLst>
              <a:gd name="adj" fmla="val 827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Step 5"/>
          <p:cNvSpPr/>
          <p:nvPr/>
        </p:nvSpPr>
        <p:spPr>
          <a:xfrm>
            <a:off x="7315200" y="1371600"/>
            <a:ext cx="292608" cy="292608"/>
          </a:xfrm>
          <a:prstGeom prst="ellipse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662672" y="13716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1737360"/>
            <a:ext cx="12801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 30 and 60 minutes ahead</a:t>
            </a:r>
            <a:endParaRPr lang="en-US" sz="1100" dirty="0"/>
          </a:p>
        </p:txBody>
      </p:sp>
      <p:sp>
        <p:nvSpPr>
          <p:cNvPr id="33" name="Shot home"/>
          <p:cNvSpPr/>
          <p:nvPr/>
        </p:nvSpPr>
        <p:spPr>
          <a:xfrm>
            <a:off x="457200" y="278892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0B1F15"/>
          </a:solidFill>
          <a:ln w="19050">
            <a:solidFill>
              <a:srgbClr val="22C55E"/>
            </a:solidFill>
            <a:prstDash val="dash"/>
          </a:ln>
        </p:spPr>
      </p:sp>
      <p:sp>
        <p:nvSpPr>
          <p:cNvPr id="34" name="Shot home label"/>
          <p:cNvSpPr txBox="1"/>
          <p:nvPr/>
        </p:nvSpPr>
        <p:spPr>
          <a:xfrm>
            <a:off x="457200" y="2788920"/>
            <a:ext cx="402336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page: hero with live AQI gauge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0507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users: zone AQI, live map, history, forecast</a:t>
            </a:r>
            <a:endParaRPr lang="en-US" sz="1100" dirty="0"/>
          </a:p>
        </p:txBody>
      </p:sp>
      <p:sp>
        <p:nvSpPr>
          <p:cNvPr id="36" name="Shot overview"/>
          <p:cNvSpPr/>
          <p:nvPr/>
        </p:nvSpPr>
        <p:spPr>
          <a:xfrm>
            <a:off x="4663440" y="278892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0B1F15"/>
          </a:solidFill>
          <a:ln w="19050">
            <a:solidFill>
              <a:srgbClr val="22C55E"/>
            </a:solidFill>
            <a:prstDash val="dash"/>
          </a:ln>
        </p:spPr>
      </p:sp>
      <p:sp>
        <p:nvSpPr>
          <p:cNvPr id="37" name="Shot overview label"/>
          <p:cNvSpPr txBox="1"/>
          <p:nvPr/>
        </p:nvSpPr>
        <p:spPr>
          <a:xfrm>
            <a:off x="4663440" y="2788920"/>
            <a:ext cx="402336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Overview screen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40507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Officials: also source insight, events, node health, accounts</a:t>
            </a:r>
            <a:endParaRPr lang="en-US" sz="1100" dirty="0"/>
          </a:p>
        </p:txBody>
      </p:sp>
      <p:sp>
        <p:nvSpPr>
          <p:cNvPr id="39" name="Stat zones"/>
          <p:cNvSpPr/>
          <p:nvPr/>
        </p:nvSpPr>
        <p:spPr>
          <a:xfrm>
            <a:off x="457200" y="4343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</a:t>
            </a:r>
            <a:endParaRPr lang="en-US" sz="1100" dirty="0"/>
          </a:p>
        </p:txBody>
      </p:sp>
      <p:sp>
        <p:nvSpPr>
          <p:cNvPr id="42" name="Stat sensor nodes"/>
          <p:cNvSpPr/>
          <p:nvPr/>
        </p:nvSpPr>
        <p:spPr>
          <a:xfrm>
            <a:off x="2560320" y="4343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5176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3218688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</a:t>
            </a:r>
            <a:endParaRPr lang="en-US" sz="1100" dirty="0"/>
          </a:p>
        </p:txBody>
      </p:sp>
      <p:sp>
        <p:nvSpPr>
          <p:cNvPr id="45" name="Stat forecast horizons"/>
          <p:cNvSpPr/>
          <p:nvPr/>
        </p:nvSpPr>
        <p:spPr>
          <a:xfrm>
            <a:off x="4663440" y="4343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75488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5321808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horizons</a:t>
            </a:r>
            <a:endParaRPr lang="en-US" sz="1100" dirty="0"/>
          </a:p>
        </p:txBody>
      </p:sp>
      <p:sp>
        <p:nvSpPr>
          <p:cNvPr id="48" name="Stat packets lost in outage test"/>
          <p:cNvSpPr/>
          <p:nvPr/>
        </p:nvSpPr>
        <p:spPr>
          <a:xfrm>
            <a:off x="6766560" y="434340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58000" y="4343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7424928" y="4343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lost in outage test</a:t>
            </a:r>
            <a:endParaRPr lang="en-US" sz="1100" dirty="0"/>
          </a:p>
        </p:txBody>
      </p:sp>
      <p:sp>
        <p:nvSpPr>
          <p:cNvPr id="51" name="Footnote"/>
          <p:cNvSpPr txBox="1"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is simulated through a gateway using the real data format. AQI is indicative, not an official reading.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and architecture</a:t>
            </a:r>
            <a:endParaRPr lang="en-US" sz="3000" dirty="0"/>
          </a:p>
        </p:txBody>
      </p:sp>
      <p:sp>
        <p:nvSpPr>
          <p:cNvPr id="3" name="Subtitle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 to end in Python: one site, one login</a:t>
            </a:r>
            <a:endParaRPr lang="en-US" sz="1400" dirty="0"/>
          </a:p>
        </p:txBody>
      </p:sp>
      <p:sp>
        <p:nvSpPr>
          <p:cNvPr id="4" name="Flow Sensor nodes"/>
          <p:cNvSpPr/>
          <p:nvPr/>
        </p:nvSpPr>
        <p:spPr>
          <a:xfrm>
            <a:off x="457200" y="11887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188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Flow Gateway"/>
          <p:cNvSpPr/>
          <p:nvPr/>
        </p:nvSpPr>
        <p:spPr>
          <a:xfrm>
            <a:off x="1865376" y="11887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65376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54096" y="1188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Flow Ingest API"/>
          <p:cNvSpPr/>
          <p:nvPr/>
        </p:nvSpPr>
        <p:spPr>
          <a:xfrm>
            <a:off x="3273552" y="11887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3552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API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62272" y="1188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Flow Database"/>
          <p:cNvSpPr/>
          <p:nvPr/>
        </p:nvSpPr>
        <p:spPr>
          <a:xfrm>
            <a:off x="4681728" y="11887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81728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1188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Flow Analytics worker"/>
          <p:cNvSpPr/>
          <p:nvPr/>
        </p:nvSpPr>
        <p:spPr>
          <a:xfrm>
            <a:off x="6089904" y="11887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89904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278624" y="11887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Flow Website + Dashboard"/>
          <p:cNvSpPr/>
          <p:nvPr/>
        </p:nvSpPr>
        <p:spPr>
          <a:xfrm>
            <a:off x="7498080" y="11887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Dashboard</a:t>
            </a:r>
            <a:endParaRPr lang="en-US" sz="1100" dirty="0"/>
          </a:p>
        </p:txBody>
      </p:sp>
      <p:graphicFrame>
        <p:nvGraphicFramePr>
          <p:cNvPr id="3" name="Tech stac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10512"/>
          <a:ext cx="43434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783080"/>
                <a:gridCol w="169164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C5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&amp;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Uvicorn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Ingest, REST, WebSocket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SQLAlchemy, SQLite, Alembic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data kept intact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APScheduler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Regression, stats,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Streamlit, Folium, Altair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Role-based, offline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JavaScript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Animated home, live AQI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scrypt, signed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login lockout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OSMnx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gateway, routes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PowerShell, watchdog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One-command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2A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F5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 automated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1F15"/>
                    </a:solidFill>
                  </a:tcPr>
                </a:tc>
              </a:tr>
            </a:tbl>
          </a:graphicData>
        </a:graphic>
      </p:graphicFrame>
      <p:sp>
        <p:nvSpPr>
          <p:cNvPr id="22" name="Shot official"/>
          <p:cNvSpPr/>
          <p:nvPr/>
        </p:nvSpPr>
        <p:spPr>
          <a:xfrm>
            <a:off x="4983480" y="1810512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0B1F15"/>
          </a:solidFill>
          <a:ln w="19050">
            <a:solidFill>
              <a:srgbClr val="22C55E"/>
            </a:solidFill>
            <a:prstDash val="dash"/>
          </a:ln>
        </p:spPr>
      </p:sp>
      <p:sp>
        <p:nvSpPr>
          <p:cNvPr id="23" name="Shot official label"/>
          <p:cNvSpPr txBox="1"/>
          <p:nvPr/>
        </p:nvSpPr>
        <p:spPr>
          <a:xfrm>
            <a:off x="4983480" y="1810512"/>
            <a:ext cx="370332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Official: Source insight / Events</a:t>
            </a:r>
            <a:endParaRPr lang="en-US" sz="1100" dirty="0"/>
          </a:p>
        </p:txBody>
      </p:sp>
      <p:sp>
        <p:nvSpPr>
          <p:cNvPr id="24" name="Shot map"/>
          <p:cNvSpPr/>
          <p:nvPr/>
        </p:nvSpPr>
        <p:spPr>
          <a:xfrm>
            <a:off x="4983480" y="3200400"/>
            <a:ext cx="3703320" cy="1280160"/>
          </a:xfrm>
          <a:prstGeom prst="roundRect">
            <a:avLst>
              <a:gd name="adj" fmla="val 7143"/>
            </a:avLst>
          </a:prstGeom>
          <a:solidFill>
            <a:srgbClr val="0B1F15"/>
          </a:solidFill>
          <a:ln w="19050">
            <a:solidFill>
              <a:srgbClr val="22C55E"/>
            </a:solidFill>
            <a:prstDash val="dash"/>
          </a:ln>
        </p:spPr>
      </p:sp>
      <p:sp>
        <p:nvSpPr>
          <p:cNvPr id="25" name="Shot map label"/>
          <p:cNvSpPr txBox="1"/>
          <p:nvPr/>
        </p:nvSpPr>
        <p:spPr>
          <a:xfrm>
            <a:off x="4983480" y="3200400"/>
            <a:ext cx="3703320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100" dirty="0"/>
          </a:p>
        </p:txBody>
      </p:sp>
      <p:sp>
        <p:nvSpPr>
          <p:cNvPr id="26" name="Callout Reliable"/>
          <p:cNvSpPr/>
          <p:nvPr/>
        </p:nvSpPr>
        <p:spPr>
          <a:xfrm>
            <a:off x="457200" y="45720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Reliable: </a:t>
            </a:r>
            <a:pPr indent="0" marL="0"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buffers and resends if the backend dies. Zero packets lost in tests.</a:t>
            </a:r>
            <a:endParaRPr lang="en-US" sz="1000" dirty="0"/>
          </a:p>
        </p:txBody>
      </p:sp>
      <p:sp>
        <p:nvSpPr>
          <p:cNvPr id="28" name="Callout Honest"/>
          <p:cNvSpPr/>
          <p:nvPr/>
        </p:nvSpPr>
        <p:spPr>
          <a:xfrm>
            <a:off x="3246120" y="45720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24612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</a:t>
            </a:r>
            <a:pPr indent="0" marL="0"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never altered; gas shown as raw counts; labels say “probable”.</a:t>
            </a:r>
            <a:endParaRPr lang="en-US" sz="1000" dirty="0"/>
          </a:p>
        </p:txBody>
      </p:sp>
      <p:sp>
        <p:nvSpPr>
          <p:cNvPr id="30" name="Callout Easy to run"/>
          <p:cNvSpPr/>
          <p:nvPr/>
        </p:nvSpPr>
        <p:spPr>
          <a:xfrm>
            <a:off x="6035040" y="45720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F2A1C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35040" y="4572000"/>
            <a:ext cx="2651760" cy="457200"/>
          </a:xfrm>
          <a:prstGeom prst="rect">
            <a:avLst/>
          </a:prstGeom>
          <a:noFill/>
          <a:ln/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run: </a:t>
            </a:r>
            <a:pPr indent="0" marL="0">
              <a:buNone/>
            </a:pPr>
            <a:r>
              <a:rPr lang="en-US" sz="10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starts everything in 15 to 60 seconds.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eronex Black Green">
  <a:themeElements>
    <a:clrScheme name="Aeronex Black Green">
      <a:dk1>
        <a:srgbClr val="1B1B1B"/>
      </a:dk1>
      <a:lt1>
        <a:srgbClr val="E8F5EC"/>
      </a:lt1>
      <a:dk2>
        <a:srgbClr val="0F2A1C"/>
      </a:dk2>
      <a:lt2>
        <a:srgbClr val="8FB5A0"/>
      </a:lt2>
      <a:accent1>
        <a:srgbClr val="22C55E"/>
      </a:accent1>
      <a:accent2>
        <a:srgbClr val="4ADE80"/>
      </a:accent2>
      <a:accent3>
        <a:srgbClr val="166534"/>
      </a:accent3>
      <a:accent4>
        <a:srgbClr val="14532D"/>
      </a:accent4>
      <a:accent5>
        <a:srgbClr val="86EFAC"/>
      </a:accent5>
      <a:accent6>
        <a:srgbClr val="052E16"/>
      </a:accent6>
      <a:hlink>
        <a:srgbClr val="4ADE80"/>
      </a:hlink>
      <a:folHlink>
        <a:srgbClr val="86EFAC"/>
      </a:folHlink>
    </a:clrScheme>
    <a:fontScheme name="Aeronex Black 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Aeronex - software overview</dc:title>
  <dc:subject>PptxGenJS Presentation</dc:subject>
  <dc:creator>PptxGenJS</dc:creator>
  <cp:lastModifiedBy>PptxGenJS</cp:lastModifiedBy>
  <cp:revision>1</cp:revision>
  <dcterms:created xsi:type="dcterms:W3CDTF">2026-10-05T17:18:55Z</dcterms:created>
  <dcterms:modified xsi:type="dcterms:W3CDTF">2026-10-05T17:18:55Z</dcterms:modified>
</cp:coreProperties>
</file>