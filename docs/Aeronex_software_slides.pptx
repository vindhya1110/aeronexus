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flow: sensor nodes to gateway to ingest API to database to the analytics and ML step to the website and dashboard. The analytics step computes AQI, suggests the pollution source, flags events, forecasts and warns, and builds the heatmap, hotspots and trends. The gateway buffers and resends if the backend is down. Data 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throughout. FastAPI serves the API, the website and, through a proxy, the Streamlit dashboard on one port. scikit-learn provides the forecasting, early-warning, source, anomaly and clustering models; statsmodels provides the trend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1B"/>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E8F5EC"/>
                </a:solidFill>
                <a:latin typeface="Calibri" pitchFamily="34" charset="0"/>
                <a:ea typeface="Calibri" pitchFamily="34" charset="-122"/>
                <a:cs typeface="Calibri" pitchFamily="34" charset="-120"/>
              </a:rPr>
              <a:t>How Aeronex works</a:t>
            </a:r>
            <a:endParaRPr lang="en-US" sz="3000" dirty="0"/>
          </a:p>
        </p:txBody>
      </p:sp>
      <p:sp>
        <p:nvSpPr>
          <p:cNvPr id="3" name="Subtitle"/>
          <p:cNvSpPr txBox="1"/>
          <p:nvPr/>
        </p:nvSpPr>
        <p:spPr>
          <a:xfrm>
            <a:off x="457200" y="822960"/>
            <a:ext cx="8229600" cy="274320"/>
          </a:xfrm>
          <a:prstGeom prst="rect">
            <a:avLst/>
          </a:prstGeom>
          <a:noFill/>
          <a:ln/>
        </p:spPr>
        <p:txBody>
          <a:bodyPr wrap="square" lIns="0" tIns="0" rIns="0" bIns="0" rtlCol="0" anchor="ctr"/>
          <a:lstStyle/>
          <a:p>
            <a:pPr indent="0" marL="0">
              <a:buNone/>
            </a:pPr>
            <a:r>
              <a:rPr lang="en-US" sz="1400" dirty="0">
                <a:solidFill>
                  <a:srgbClr val="4ADE80"/>
                </a:solidFill>
                <a:latin typeface="Calibri" pitchFamily="34" charset="0"/>
                <a:ea typeface="Calibri" pitchFamily="34" charset="-122"/>
                <a:cs typeface="Calibri" pitchFamily="34" charset="-120"/>
              </a:rPr>
              <a:t>From street sensors to a forecast, in one flow</a:t>
            </a:r>
            <a:endParaRPr lang="en-US" sz="1400" dirty="0"/>
          </a:p>
        </p:txBody>
      </p:sp>
      <p:sp>
        <p:nvSpPr>
          <p:cNvPr id="4" name="Flow Sensor nodes"/>
          <p:cNvSpPr/>
          <p:nvPr/>
        </p:nvSpPr>
        <p:spPr>
          <a:xfrm>
            <a:off x="457200" y="1188720"/>
            <a:ext cx="1188720" cy="914400"/>
          </a:xfrm>
          <a:prstGeom prst="roundRect">
            <a:avLst>
              <a:gd name="adj" fmla="val 10000"/>
            </a:avLst>
          </a:prstGeom>
          <a:solidFill>
            <a:srgbClr val="0F2A1C"/>
          </a:solidFill>
          <a:ln w="12700">
            <a:solidFill>
              <a:srgbClr val="14532D"/>
            </a:solidFill>
            <a:prstDash val="solid"/>
          </a:ln>
        </p:spPr>
      </p:sp>
      <p:sp>
        <p:nvSpPr>
          <p:cNvPr id="5" name="Num 1"/>
          <p:cNvSpPr/>
          <p:nvPr/>
        </p:nvSpPr>
        <p:spPr>
          <a:xfrm>
            <a:off x="530352" y="1261872"/>
            <a:ext cx="237744" cy="237744"/>
          </a:xfrm>
          <a:prstGeom prst="ellipse">
            <a:avLst/>
          </a:prstGeom>
          <a:solidFill>
            <a:srgbClr val="22C55E"/>
          </a:solidFill>
          <a:ln w="12700">
            <a:solidFill>
              <a:srgbClr val="22C55E"/>
            </a:solidFill>
            <a:prstDash val="solid"/>
          </a:ln>
        </p:spPr>
      </p:sp>
      <p:sp>
        <p:nvSpPr>
          <p:cNvPr id="6" name="Text 4"/>
          <p:cNvSpPr txBox="1"/>
          <p:nvPr/>
        </p:nvSpPr>
        <p:spPr>
          <a:xfrm>
            <a:off x="530352" y="1261872"/>
            <a:ext cx="237744" cy="237744"/>
          </a:xfrm>
          <a:prstGeom prst="rect">
            <a:avLst/>
          </a:prstGeom>
          <a:noFill/>
          <a:ln/>
        </p:spPr>
        <p:txBody>
          <a:bodyPr wrap="square" lIns="0" tIns="0" rIns="0" bIns="0" rtlCol="0" anchor="ctr"/>
          <a:lstStyle/>
          <a:p>
            <a:pPr algn="ctr" indent="0" marL="0">
              <a:buNone/>
            </a:pPr>
            <a:r>
              <a:rPr lang="en-US" sz="1000" b="1" dirty="0">
                <a:solidFill>
                  <a:srgbClr val="1B1B1B"/>
                </a:solidFill>
                <a:latin typeface="Calibri" pitchFamily="34" charset="0"/>
                <a:ea typeface="Calibri" pitchFamily="34" charset="-122"/>
                <a:cs typeface="Calibri" pitchFamily="34" charset="-120"/>
              </a:rPr>
              <a:t>1</a:t>
            </a:r>
            <a:endParaRPr lang="en-US" sz="1000" dirty="0"/>
          </a:p>
        </p:txBody>
      </p:sp>
      <p:sp>
        <p:nvSpPr>
          <p:cNvPr id="7" name="Text 5"/>
          <p:cNvSpPr txBox="1"/>
          <p:nvPr/>
        </p:nvSpPr>
        <p:spPr>
          <a:xfrm>
            <a:off x="804672" y="1243584"/>
            <a:ext cx="804672" cy="292608"/>
          </a:xfrm>
          <a:prstGeom prst="rect">
            <a:avLst/>
          </a:prstGeom>
          <a:noFill/>
          <a:ln/>
        </p:spPr>
        <p:txBody>
          <a:bodyPr wrap="square" lIns="0" tIns="0" rIns="0" bIns="0" rtlCol="0" anchor="ctr"/>
          <a:lstStyle/>
          <a:p>
            <a:pPr indent="0" marL="0">
              <a:buNone/>
            </a:pPr>
            <a:r>
              <a:rPr lang="en-US" sz="1050" b="1" dirty="0">
                <a:solidFill>
                  <a:srgbClr val="4ADE80"/>
                </a:solidFill>
                <a:latin typeface="Calibri" pitchFamily="34" charset="0"/>
                <a:ea typeface="Calibri" pitchFamily="34" charset="-122"/>
                <a:cs typeface="Calibri" pitchFamily="34" charset="-120"/>
              </a:rPr>
              <a:t>Sensor nodes</a:t>
            </a:r>
            <a:endParaRPr lang="en-US" sz="1050" dirty="0"/>
          </a:p>
        </p:txBody>
      </p:sp>
      <p:sp>
        <p:nvSpPr>
          <p:cNvPr id="8" name="Text 6"/>
          <p:cNvSpPr txBox="1"/>
          <p:nvPr/>
        </p:nvSpPr>
        <p:spPr>
          <a:xfrm>
            <a:off x="530352" y="1572768"/>
            <a:ext cx="1042416" cy="493776"/>
          </a:xfrm>
          <a:prstGeom prst="rect">
            <a:avLst/>
          </a:prstGeom>
          <a:noFill/>
          <a:ln/>
        </p:spPr>
        <p:txBody>
          <a:bodyPr wrap="square" lIns="0" tIns="0" rIns="0" bIns="0" rtlCol="0" anchor="t"/>
          <a:lstStyle/>
          <a:p>
            <a:pPr indent="0" marL="0">
              <a:buNone/>
            </a:pPr>
            <a:r>
              <a:rPr lang="en-US" sz="1000" dirty="0">
                <a:solidFill>
                  <a:srgbClr val="E8F5EC"/>
                </a:solidFill>
                <a:latin typeface="Calibri" pitchFamily="34" charset="0"/>
                <a:ea typeface="Calibri" pitchFamily="34" charset="-122"/>
                <a:cs typeface="Calibri" pitchFamily="34" charset="-120"/>
              </a:rPr>
              <a:t>7 fixed + 4 bus nodes in 6 corridors</a:t>
            </a:r>
            <a:endParaRPr lang="en-US" sz="1000" dirty="0"/>
          </a:p>
        </p:txBody>
      </p:sp>
      <p:sp>
        <p:nvSpPr>
          <p:cNvPr id="9" name="Text 7"/>
          <p:cNvSpPr txBox="1"/>
          <p:nvPr/>
        </p:nvSpPr>
        <p:spPr>
          <a:xfrm>
            <a:off x="1645920" y="1188720"/>
            <a:ext cx="219456" cy="91440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10" name="Flow Gateway"/>
          <p:cNvSpPr/>
          <p:nvPr/>
        </p:nvSpPr>
        <p:spPr>
          <a:xfrm>
            <a:off x="1865376" y="1188720"/>
            <a:ext cx="1188720" cy="914400"/>
          </a:xfrm>
          <a:prstGeom prst="roundRect">
            <a:avLst>
              <a:gd name="adj" fmla="val 10000"/>
            </a:avLst>
          </a:prstGeom>
          <a:solidFill>
            <a:srgbClr val="0F2A1C"/>
          </a:solidFill>
          <a:ln w="12700">
            <a:solidFill>
              <a:srgbClr val="14532D"/>
            </a:solidFill>
            <a:prstDash val="solid"/>
          </a:ln>
        </p:spPr>
      </p:sp>
      <p:sp>
        <p:nvSpPr>
          <p:cNvPr id="11" name="Num 2"/>
          <p:cNvSpPr/>
          <p:nvPr/>
        </p:nvSpPr>
        <p:spPr>
          <a:xfrm>
            <a:off x="1938528" y="1261872"/>
            <a:ext cx="237744" cy="237744"/>
          </a:xfrm>
          <a:prstGeom prst="ellipse">
            <a:avLst/>
          </a:prstGeom>
          <a:solidFill>
            <a:srgbClr val="22C55E"/>
          </a:solidFill>
          <a:ln w="12700">
            <a:solidFill>
              <a:srgbClr val="22C55E"/>
            </a:solidFill>
            <a:prstDash val="solid"/>
          </a:ln>
        </p:spPr>
      </p:sp>
      <p:sp>
        <p:nvSpPr>
          <p:cNvPr id="12" name="Text 10"/>
          <p:cNvSpPr txBox="1"/>
          <p:nvPr/>
        </p:nvSpPr>
        <p:spPr>
          <a:xfrm>
            <a:off x="1938528" y="1261872"/>
            <a:ext cx="237744" cy="237744"/>
          </a:xfrm>
          <a:prstGeom prst="rect">
            <a:avLst/>
          </a:prstGeom>
          <a:noFill/>
          <a:ln/>
        </p:spPr>
        <p:txBody>
          <a:bodyPr wrap="square" lIns="0" tIns="0" rIns="0" bIns="0" rtlCol="0" anchor="ctr"/>
          <a:lstStyle/>
          <a:p>
            <a:pPr algn="ctr" indent="0" marL="0">
              <a:buNone/>
            </a:pPr>
            <a:r>
              <a:rPr lang="en-US" sz="1000" b="1" dirty="0">
                <a:solidFill>
                  <a:srgbClr val="1B1B1B"/>
                </a:solidFill>
                <a:latin typeface="Calibri" pitchFamily="34" charset="0"/>
                <a:ea typeface="Calibri" pitchFamily="34" charset="-122"/>
                <a:cs typeface="Calibri" pitchFamily="34" charset="-120"/>
              </a:rPr>
              <a:t>2</a:t>
            </a:r>
            <a:endParaRPr lang="en-US" sz="1000" dirty="0"/>
          </a:p>
        </p:txBody>
      </p:sp>
      <p:sp>
        <p:nvSpPr>
          <p:cNvPr id="13" name="Text 11"/>
          <p:cNvSpPr txBox="1"/>
          <p:nvPr/>
        </p:nvSpPr>
        <p:spPr>
          <a:xfrm>
            <a:off x="2212848" y="1243584"/>
            <a:ext cx="804672" cy="292608"/>
          </a:xfrm>
          <a:prstGeom prst="rect">
            <a:avLst/>
          </a:prstGeom>
          <a:noFill/>
          <a:ln/>
        </p:spPr>
        <p:txBody>
          <a:bodyPr wrap="square" lIns="0" tIns="0" rIns="0" bIns="0" rtlCol="0" anchor="ctr"/>
          <a:lstStyle/>
          <a:p>
            <a:pPr indent="0" marL="0">
              <a:buNone/>
            </a:pPr>
            <a:r>
              <a:rPr lang="en-US" sz="1050" b="1" dirty="0">
                <a:solidFill>
                  <a:srgbClr val="4ADE80"/>
                </a:solidFill>
                <a:latin typeface="Calibri" pitchFamily="34" charset="0"/>
                <a:ea typeface="Calibri" pitchFamily="34" charset="-122"/>
                <a:cs typeface="Calibri" pitchFamily="34" charset="-120"/>
              </a:rPr>
              <a:t>Gateway</a:t>
            </a:r>
            <a:endParaRPr lang="en-US" sz="1050" dirty="0"/>
          </a:p>
        </p:txBody>
      </p:sp>
      <p:sp>
        <p:nvSpPr>
          <p:cNvPr id="14" name="Text 12"/>
          <p:cNvSpPr txBox="1"/>
          <p:nvPr/>
        </p:nvSpPr>
        <p:spPr>
          <a:xfrm>
            <a:off x="1938528" y="1572768"/>
            <a:ext cx="1042416" cy="493776"/>
          </a:xfrm>
          <a:prstGeom prst="rect">
            <a:avLst/>
          </a:prstGeom>
          <a:noFill/>
          <a:ln/>
        </p:spPr>
        <p:txBody>
          <a:bodyPr wrap="square" lIns="0" tIns="0" rIns="0" bIns="0" rtlCol="0" anchor="t"/>
          <a:lstStyle/>
          <a:p>
            <a:pPr indent="0" marL="0">
              <a:buNone/>
            </a:pPr>
            <a:r>
              <a:rPr lang="en-US" sz="1000" dirty="0">
                <a:solidFill>
                  <a:srgbClr val="E8F5EC"/>
                </a:solidFill>
                <a:latin typeface="Calibri" pitchFamily="34" charset="0"/>
                <a:ea typeface="Calibri" pitchFamily="34" charset="-122"/>
                <a:cs typeface="Calibri" pitchFamily="34" charset="-120"/>
              </a:rPr>
              <a:t>Buffers and resends if the link drops</a:t>
            </a:r>
            <a:endParaRPr lang="en-US" sz="1000" dirty="0"/>
          </a:p>
        </p:txBody>
      </p:sp>
      <p:sp>
        <p:nvSpPr>
          <p:cNvPr id="15" name="Text 13"/>
          <p:cNvSpPr txBox="1"/>
          <p:nvPr/>
        </p:nvSpPr>
        <p:spPr>
          <a:xfrm>
            <a:off x="3054096" y="1188720"/>
            <a:ext cx="219456" cy="91440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16" name="Flow Ingest API"/>
          <p:cNvSpPr/>
          <p:nvPr/>
        </p:nvSpPr>
        <p:spPr>
          <a:xfrm>
            <a:off x="3273552" y="1188720"/>
            <a:ext cx="1188720" cy="914400"/>
          </a:xfrm>
          <a:prstGeom prst="roundRect">
            <a:avLst>
              <a:gd name="adj" fmla="val 10000"/>
            </a:avLst>
          </a:prstGeom>
          <a:solidFill>
            <a:srgbClr val="0F2A1C"/>
          </a:solidFill>
          <a:ln w="12700">
            <a:solidFill>
              <a:srgbClr val="14532D"/>
            </a:solidFill>
            <a:prstDash val="solid"/>
          </a:ln>
        </p:spPr>
      </p:sp>
      <p:sp>
        <p:nvSpPr>
          <p:cNvPr id="17" name="Num 3"/>
          <p:cNvSpPr/>
          <p:nvPr/>
        </p:nvSpPr>
        <p:spPr>
          <a:xfrm>
            <a:off x="3346704" y="1261872"/>
            <a:ext cx="237744" cy="237744"/>
          </a:xfrm>
          <a:prstGeom prst="ellipse">
            <a:avLst/>
          </a:prstGeom>
          <a:solidFill>
            <a:srgbClr val="22C55E"/>
          </a:solidFill>
          <a:ln w="12700">
            <a:solidFill>
              <a:srgbClr val="22C55E"/>
            </a:solidFill>
            <a:prstDash val="solid"/>
          </a:ln>
        </p:spPr>
      </p:sp>
      <p:sp>
        <p:nvSpPr>
          <p:cNvPr id="18" name="Text 16"/>
          <p:cNvSpPr txBox="1"/>
          <p:nvPr/>
        </p:nvSpPr>
        <p:spPr>
          <a:xfrm>
            <a:off x="3346704" y="1261872"/>
            <a:ext cx="237744" cy="237744"/>
          </a:xfrm>
          <a:prstGeom prst="rect">
            <a:avLst/>
          </a:prstGeom>
          <a:noFill/>
          <a:ln/>
        </p:spPr>
        <p:txBody>
          <a:bodyPr wrap="square" lIns="0" tIns="0" rIns="0" bIns="0" rtlCol="0" anchor="ctr"/>
          <a:lstStyle/>
          <a:p>
            <a:pPr algn="ctr" indent="0" marL="0">
              <a:buNone/>
            </a:pPr>
            <a:r>
              <a:rPr lang="en-US" sz="1000" b="1" dirty="0">
                <a:solidFill>
                  <a:srgbClr val="1B1B1B"/>
                </a:solidFill>
                <a:latin typeface="Calibri" pitchFamily="34" charset="0"/>
                <a:ea typeface="Calibri" pitchFamily="34" charset="-122"/>
                <a:cs typeface="Calibri" pitchFamily="34" charset="-120"/>
              </a:rPr>
              <a:t>3</a:t>
            </a:r>
            <a:endParaRPr lang="en-US" sz="1000" dirty="0"/>
          </a:p>
        </p:txBody>
      </p:sp>
      <p:sp>
        <p:nvSpPr>
          <p:cNvPr id="19" name="Text 17"/>
          <p:cNvSpPr txBox="1"/>
          <p:nvPr/>
        </p:nvSpPr>
        <p:spPr>
          <a:xfrm>
            <a:off x="3621024" y="1243584"/>
            <a:ext cx="804672" cy="292608"/>
          </a:xfrm>
          <a:prstGeom prst="rect">
            <a:avLst/>
          </a:prstGeom>
          <a:noFill/>
          <a:ln/>
        </p:spPr>
        <p:txBody>
          <a:bodyPr wrap="square" lIns="0" tIns="0" rIns="0" bIns="0" rtlCol="0" anchor="ctr"/>
          <a:lstStyle/>
          <a:p>
            <a:pPr indent="0" marL="0">
              <a:buNone/>
            </a:pPr>
            <a:r>
              <a:rPr lang="en-US" sz="1050" b="1" dirty="0">
                <a:solidFill>
                  <a:srgbClr val="4ADE80"/>
                </a:solidFill>
                <a:latin typeface="Calibri" pitchFamily="34" charset="0"/>
                <a:ea typeface="Calibri" pitchFamily="34" charset="-122"/>
                <a:cs typeface="Calibri" pitchFamily="34" charset="-120"/>
              </a:rPr>
              <a:t>Ingest API</a:t>
            </a:r>
            <a:endParaRPr lang="en-US" sz="1050" dirty="0"/>
          </a:p>
        </p:txBody>
      </p:sp>
      <p:sp>
        <p:nvSpPr>
          <p:cNvPr id="20" name="Text 18"/>
          <p:cNvSpPr txBox="1"/>
          <p:nvPr/>
        </p:nvSpPr>
        <p:spPr>
          <a:xfrm>
            <a:off x="3346704" y="1572768"/>
            <a:ext cx="1042416" cy="493776"/>
          </a:xfrm>
          <a:prstGeom prst="rect">
            <a:avLst/>
          </a:prstGeom>
          <a:noFill/>
          <a:ln/>
        </p:spPr>
        <p:txBody>
          <a:bodyPr wrap="square" lIns="0" tIns="0" rIns="0" bIns="0" rtlCol="0" anchor="t"/>
          <a:lstStyle/>
          <a:p>
            <a:pPr indent="0" marL="0">
              <a:buNone/>
            </a:pPr>
            <a:r>
              <a:rPr lang="en-US" sz="1000" dirty="0">
                <a:solidFill>
                  <a:srgbClr val="E8F5EC"/>
                </a:solidFill>
                <a:latin typeface="Calibri" pitchFamily="34" charset="0"/>
                <a:ea typeface="Calibri" pitchFamily="34" charset="-122"/>
                <a:cs typeface="Calibri" pitchFamily="34" charset="-120"/>
              </a:rPr>
              <a:t>Validates and de-duplicates</a:t>
            </a:r>
            <a:endParaRPr lang="en-US" sz="1000" dirty="0"/>
          </a:p>
        </p:txBody>
      </p:sp>
      <p:sp>
        <p:nvSpPr>
          <p:cNvPr id="21" name="Text 19"/>
          <p:cNvSpPr txBox="1"/>
          <p:nvPr/>
        </p:nvSpPr>
        <p:spPr>
          <a:xfrm>
            <a:off x="4462272" y="1188720"/>
            <a:ext cx="219456" cy="91440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22" name="Flow Database"/>
          <p:cNvSpPr/>
          <p:nvPr/>
        </p:nvSpPr>
        <p:spPr>
          <a:xfrm>
            <a:off x="4681728" y="1188720"/>
            <a:ext cx="1188720" cy="914400"/>
          </a:xfrm>
          <a:prstGeom prst="roundRect">
            <a:avLst>
              <a:gd name="adj" fmla="val 10000"/>
            </a:avLst>
          </a:prstGeom>
          <a:solidFill>
            <a:srgbClr val="0F2A1C"/>
          </a:solidFill>
          <a:ln w="12700">
            <a:solidFill>
              <a:srgbClr val="14532D"/>
            </a:solidFill>
            <a:prstDash val="solid"/>
          </a:ln>
        </p:spPr>
      </p:sp>
      <p:sp>
        <p:nvSpPr>
          <p:cNvPr id="23" name="Num 4"/>
          <p:cNvSpPr/>
          <p:nvPr/>
        </p:nvSpPr>
        <p:spPr>
          <a:xfrm>
            <a:off x="4754880" y="1261872"/>
            <a:ext cx="237744" cy="237744"/>
          </a:xfrm>
          <a:prstGeom prst="ellipse">
            <a:avLst/>
          </a:prstGeom>
          <a:solidFill>
            <a:srgbClr val="22C55E"/>
          </a:solidFill>
          <a:ln w="12700">
            <a:solidFill>
              <a:srgbClr val="22C55E"/>
            </a:solidFill>
            <a:prstDash val="solid"/>
          </a:ln>
        </p:spPr>
      </p:sp>
      <p:sp>
        <p:nvSpPr>
          <p:cNvPr id="24" name="Text 22"/>
          <p:cNvSpPr txBox="1"/>
          <p:nvPr/>
        </p:nvSpPr>
        <p:spPr>
          <a:xfrm>
            <a:off x="4754880" y="1261872"/>
            <a:ext cx="237744" cy="237744"/>
          </a:xfrm>
          <a:prstGeom prst="rect">
            <a:avLst/>
          </a:prstGeom>
          <a:noFill/>
          <a:ln/>
        </p:spPr>
        <p:txBody>
          <a:bodyPr wrap="square" lIns="0" tIns="0" rIns="0" bIns="0" rtlCol="0" anchor="ctr"/>
          <a:lstStyle/>
          <a:p>
            <a:pPr algn="ctr" indent="0" marL="0">
              <a:buNone/>
            </a:pPr>
            <a:r>
              <a:rPr lang="en-US" sz="1000" b="1" dirty="0">
                <a:solidFill>
                  <a:srgbClr val="1B1B1B"/>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5029200" y="1243584"/>
            <a:ext cx="804672" cy="292608"/>
          </a:xfrm>
          <a:prstGeom prst="rect">
            <a:avLst/>
          </a:prstGeom>
          <a:noFill/>
          <a:ln/>
        </p:spPr>
        <p:txBody>
          <a:bodyPr wrap="square" lIns="0" tIns="0" rIns="0" bIns="0" rtlCol="0" anchor="ctr"/>
          <a:lstStyle/>
          <a:p>
            <a:pPr indent="0" marL="0">
              <a:buNone/>
            </a:pPr>
            <a:r>
              <a:rPr lang="en-US" sz="1050" b="1" dirty="0">
                <a:solidFill>
                  <a:srgbClr val="4ADE80"/>
                </a:solidFill>
                <a:latin typeface="Calibri" pitchFamily="34" charset="0"/>
                <a:ea typeface="Calibri" pitchFamily="34" charset="-122"/>
                <a:cs typeface="Calibri" pitchFamily="34" charset="-120"/>
              </a:rPr>
              <a:t>Database</a:t>
            </a:r>
            <a:endParaRPr lang="en-US" sz="1050" dirty="0"/>
          </a:p>
        </p:txBody>
      </p:sp>
      <p:sp>
        <p:nvSpPr>
          <p:cNvPr id="26" name="Text 24"/>
          <p:cNvSpPr txBox="1"/>
          <p:nvPr/>
        </p:nvSpPr>
        <p:spPr>
          <a:xfrm>
            <a:off x="4754880" y="1572768"/>
            <a:ext cx="1042416" cy="493776"/>
          </a:xfrm>
          <a:prstGeom prst="rect">
            <a:avLst/>
          </a:prstGeom>
          <a:noFill/>
          <a:ln/>
        </p:spPr>
        <p:txBody>
          <a:bodyPr wrap="square" lIns="0" tIns="0" rIns="0" bIns="0" rtlCol="0" anchor="t"/>
          <a:lstStyle/>
          <a:p>
            <a:pPr indent="0" marL="0">
              <a:buNone/>
            </a:pPr>
            <a:r>
              <a:rPr lang="en-US" sz="1000" dirty="0">
                <a:solidFill>
                  <a:srgbClr val="E8F5EC"/>
                </a:solidFill>
                <a:latin typeface="Calibri" pitchFamily="34" charset="0"/>
                <a:ea typeface="Calibri" pitchFamily="34" charset="-122"/>
                <a:cs typeface="Calibri" pitchFamily="34" charset="-120"/>
              </a:rPr>
              <a:t>Raw readings kept intact</a:t>
            </a:r>
            <a:endParaRPr lang="en-US" sz="1000" dirty="0"/>
          </a:p>
        </p:txBody>
      </p:sp>
      <p:sp>
        <p:nvSpPr>
          <p:cNvPr id="27" name="Text 25"/>
          <p:cNvSpPr txBox="1"/>
          <p:nvPr/>
        </p:nvSpPr>
        <p:spPr>
          <a:xfrm>
            <a:off x="5870448" y="1188720"/>
            <a:ext cx="219456" cy="91440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28" name="Flow Analytics + ML"/>
          <p:cNvSpPr/>
          <p:nvPr/>
        </p:nvSpPr>
        <p:spPr>
          <a:xfrm>
            <a:off x="6089904" y="1188720"/>
            <a:ext cx="1188720" cy="914400"/>
          </a:xfrm>
          <a:prstGeom prst="roundRect">
            <a:avLst>
              <a:gd name="adj" fmla="val 10000"/>
            </a:avLst>
          </a:prstGeom>
          <a:solidFill>
            <a:srgbClr val="0F2A1C"/>
          </a:solidFill>
          <a:ln w="25400">
            <a:solidFill>
              <a:srgbClr val="22C55E"/>
            </a:solidFill>
            <a:prstDash val="solid"/>
          </a:ln>
        </p:spPr>
      </p:sp>
      <p:sp>
        <p:nvSpPr>
          <p:cNvPr id="29" name="Num 5"/>
          <p:cNvSpPr/>
          <p:nvPr/>
        </p:nvSpPr>
        <p:spPr>
          <a:xfrm>
            <a:off x="6163056" y="1261872"/>
            <a:ext cx="237744" cy="237744"/>
          </a:xfrm>
          <a:prstGeom prst="ellipse">
            <a:avLst/>
          </a:prstGeom>
          <a:solidFill>
            <a:srgbClr val="22C55E"/>
          </a:solidFill>
          <a:ln w="12700">
            <a:solidFill>
              <a:srgbClr val="22C55E"/>
            </a:solidFill>
            <a:prstDash val="solid"/>
          </a:ln>
        </p:spPr>
      </p:sp>
      <p:sp>
        <p:nvSpPr>
          <p:cNvPr id="30" name="Text 28"/>
          <p:cNvSpPr txBox="1"/>
          <p:nvPr/>
        </p:nvSpPr>
        <p:spPr>
          <a:xfrm>
            <a:off x="6163056" y="1261872"/>
            <a:ext cx="237744" cy="237744"/>
          </a:xfrm>
          <a:prstGeom prst="rect">
            <a:avLst/>
          </a:prstGeom>
          <a:noFill/>
          <a:ln/>
        </p:spPr>
        <p:txBody>
          <a:bodyPr wrap="square" lIns="0" tIns="0" rIns="0" bIns="0" rtlCol="0" anchor="ctr"/>
          <a:lstStyle/>
          <a:p>
            <a:pPr algn="ctr" indent="0" marL="0">
              <a:buNone/>
            </a:pPr>
            <a:r>
              <a:rPr lang="en-US" sz="1000" b="1" dirty="0">
                <a:solidFill>
                  <a:srgbClr val="1B1B1B"/>
                </a:solidFill>
                <a:latin typeface="Calibri" pitchFamily="34" charset="0"/>
                <a:ea typeface="Calibri" pitchFamily="34" charset="-122"/>
                <a:cs typeface="Calibri" pitchFamily="34" charset="-120"/>
              </a:rPr>
              <a:t>5</a:t>
            </a:r>
            <a:endParaRPr lang="en-US" sz="1000" dirty="0"/>
          </a:p>
        </p:txBody>
      </p:sp>
      <p:sp>
        <p:nvSpPr>
          <p:cNvPr id="31" name="Text 29"/>
          <p:cNvSpPr txBox="1"/>
          <p:nvPr/>
        </p:nvSpPr>
        <p:spPr>
          <a:xfrm>
            <a:off x="6437376" y="1243584"/>
            <a:ext cx="804672" cy="292608"/>
          </a:xfrm>
          <a:prstGeom prst="rect">
            <a:avLst/>
          </a:prstGeom>
          <a:noFill/>
          <a:ln/>
        </p:spPr>
        <p:txBody>
          <a:bodyPr wrap="square" lIns="0" tIns="0" rIns="0" bIns="0" rtlCol="0" anchor="ctr"/>
          <a:lstStyle/>
          <a:p>
            <a:pPr indent="0" marL="0">
              <a:buNone/>
            </a:pPr>
            <a:r>
              <a:rPr lang="en-US" sz="1050" b="1" dirty="0">
                <a:solidFill>
                  <a:srgbClr val="4ADE80"/>
                </a:solidFill>
                <a:latin typeface="Calibri" pitchFamily="34" charset="0"/>
                <a:ea typeface="Calibri" pitchFamily="34" charset="-122"/>
                <a:cs typeface="Calibri" pitchFamily="34" charset="-120"/>
              </a:rPr>
              <a:t>Analytics + ML</a:t>
            </a:r>
            <a:endParaRPr lang="en-US" sz="1050" dirty="0"/>
          </a:p>
        </p:txBody>
      </p:sp>
      <p:sp>
        <p:nvSpPr>
          <p:cNvPr id="32" name="Text 30"/>
          <p:cNvSpPr txBox="1"/>
          <p:nvPr/>
        </p:nvSpPr>
        <p:spPr>
          <a:xfrm>
            <a:off x="6163056" y="1572768"/>
            <a:ext cx="1042416" cy="493776"/>
          </a:xfrm>
          <a:prstGeom prst="rect">
            <a:avLst/>
          </a:prstGeom>
          <a:noFill/>
          <a:ln/>
        </p:spPr>
        <p:txBody>
          <a:bodyPr wrap="square" lIns="0" tIns="0" rIns="0" bIns="0" rtlCol="0" anchor="t"/>
          <a:lstStyle/>
          <a:p>
            <a:pPr indent="0" marL="0">
              <a:buNone/>
            </a:pPr>
            <a:r>
              <a:rPr lang="en-US" sz="1000" dirty="0">
                <a:solidFill>
                  <a:srgbClr val="E8F5EC"/>
                </a:solidFill>
                <a:latin typeface="Calibri" pitchFamily="34" charset="0"/>
                <a:ea typeface="Calibri" pitchFamily="34" charset="-122"/>
                <a:cs typeface="Calibri" pitchFamily="34" charset="-120"/>
              </a:rPr>
              <a:t>Turns readings into insight</a:t>
            </a:r>
            <a:endParaRPr lang="en-US" sz="1000" dirty="0"/>
          </a:p>
        </p:txBody>
      </p:sp>
      <p:sp>
        <p:nvSpPr>
          <p:cNvPr id="33" name="Text 31"/>
          <p:cNvSpPr txBox="1"/>
          <p:nvPr/>
        </p:nvSpPr>
        <p:spPr>
          <a:xfrm>
            <a:off x="7278624" y="1188720"/>
            <a:ext cx="219456" cy="91440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34" name="Flow Website + Dashboard"/>
          <p:cNvSpPr/>
          <p:nvPr/>
        </p:nvSpPr>
        <p:spPr>
          <a:xfrm>
            <a:off x="7498080" y="1188720"/>
            <a:ext cx="1188720" cy="914400"/>
          </a:xfrm>
          <a:prstGeom prst="roundRect">
            <a:avLst>
              <a:gd name="adj" fmla="val 10000"/>
            </a:avLst>
          </a:prstGeom>
          <a:solidFill>
            <a:srgbClr val="22C55E"/>
          </a:solidFill>
          <a:ln w="12700">
            <a:solidFill>
              <a:srgbClr val="22C55E"/>
            </a:solidFill>
            <a:prstDash val="solid"/>
          </a:ln>
        </p:spPr>
      </p:sp>
      <p:sp>
        <p:nvSpPr>
          <p:cNvPr id="35" name="Num 6"/>
          <p:cNvSpPr/>
          <p:nvPr/>
        </p:nvSpPr>
        <p:spPr>
          <a:xfrm>
            <a:off x="7571232" y="1261872"/>
            <a:ext cx="237744" cy="237744"/>
          </a:xfrm>
          <a:prstGeom prst="ellipse">
            <a:avLst/>
          </a:prstGeom>
          <a:solidFill>
            <a:srgbClr val="1B1B1B"/>
          </a:solidFill>
          <a:ln w="12700">
            <a:solidFill>
              <a:srgbClr val="1B1B1B"/>
            </a:solidFill>
            <a:prstDash val="solid"/>
          </a:ln>
        </p:spPr>
      </p:sp>
      <p:sp>
        <p:nvSpPr>
          <p:cNvPr id="36" name="Text 34"/>
          <p:cNvSpPr txBox="1"/>
          <p:nvPr/>
        </p:nvSpPr>
        <p:spPr>
          <a:xfrm>
            <a:off x="7571232" y="1261872"/>
            <a:ext cx="237744" cy="237744"/>
          </a:xfrm>
          <a:prstGeom prst="rect">
            <a:avLst/>
          </a:prstGeom>
          <a:noFill/>
          <a:ln/>
        </p:spPr>
        <p:txBody>
          <a:bodyPr wrap="square" lIns="0" tIns="0" rIns="0" bIns="0" rtlCol="0" anchor="ctr"/>
          <a:lstStyle/>
          <a:p>
            <a:pPr algn="ctr" indent="0" marL="0">
              <a:buNone/>
            </a:pPr>
            <a:r>
              <a:rPr lang="en-US" sz="1000" b="1" dirty="0">
                <a:solidFill>
                  <a:srgbClr val="22C55E"/>
                </a:solidFill>
                <a:latin typeface="Calibri" pitchFamily="34" charset="0"/>
                <a:ea typeface="Calibri" pitchFamily="34" charset="-122"/>
                <a:cs typeface="Calibri" pitchFamily="34" charset="-120"/>
              </a:rPr>
              <a:t>6</a:t>
            </a:r>
            <a:endParaRPr lang="en-US" sz="1000" dirty="0"/>
          </a:p>
        </p:txBody>
      </p:sp>
      <p:sp>
        <p:nvSpPr>
          <p:cNvPr id="37" name="Text 35"/>
          <p:cNvSpPr txBox="1"/>
          <p:nvPr/>
        </p:nvSpPr>
        <p:spPr>
          <a:xfrm>
            <a:off x="7845552" y="1243584"/>
            <a:ext cx="804672" cy="292608"/>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Website + Dashboard</a:t>
            </a:r>
            <a:endParaRPr lang="en-US" sz="1050" dirty="0"/>
          </a:p>
        </p:txBody>
      </p:sp>
      <p:sp>
        <p:nvSpPr>
          <p:cNvPr id="38" name="Text 36"/>
          <p:cNvSpPr txBox="1"/>
          <p:nvPr/>
        </p:nvSpPr>
        <p:spPr>
          <a:xfrm>
            <a:off x="7571232" y="1572768"/>
            <a:ext cx="1042416" cy="493776"/>
          </a:xfrm>
          <a:prstGeom prst="rect">
            <a:avLst/>
          </a:prstGeom>
          <a:noFill/>
          <a:ln/>
        </p:spPr>
        <p:txBody>
          <a:bodyPr wrap="square" lIns="0" tIns="0" rIns="0" bIns="0" rtlCol="0" anchor="t"/>
          <a:lstStyle/>
          <a:p>
            <a:pPr indent="0" marL="0">
              <a:buNone/>
            </a:pPr>
            <a:r>
              <a:rPr lang="en-US" sz="1000" dirty="0">
                <a:solidFill>
                  <a:srgbClr val="1B1B1B"/>
                </a:solidFill>
                <a:latin typeface="Calibri" pitchFamily="34" charset="0"/>
                <a:ea typeface="Calibri" pitchFamily="34" charset="-122"/>
                <a:cs typeface="Calibri" pitchFamily="34" charset="-120"/>
              </a:rPr>
              <a:t>Public and official views</a:t>
            </a:r>
            <a:endParaRPr lang="en-US" sz="1000" dirty="0"/>
          </a:p>
        </p:txBody>
      </p:sp>
      <p:sp>
        <p:nvSpPr>
          <p:cNvPr id="39" name="Text 37"/>
          <p:cNvSpPr txBox="1"/>
          <p:nvPr/>
        </p:nvSpPr>
        <p:spPr>
          <a:xfrm>
            <a:off x="6501384" y="2103120"/>
            <a:ext cx="365760" cy="22860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40" name="Analytics band"/>
          <p:cNvSpPr/>
          <p:nvPr/>
        </p:nvSpPr>
        <p:spPr>
          <a:xfrm>
            <a:off x="457200" y="2377440"/>
            <a:ext cx="8229600" cy="658368"/>
          </a:xfrm>
          <a:prstGeom prst="roundRect">
            <a:avLst>
              <a:gd name="adj" fmla="val 13889"/>
            </a:avLst>
          </a:prstGeom>
          <a:solidFill>
            <a:srgbClr val="0B1F15"/>
          </a:solidFill>
          <a:ln w="12700">
            <a:solidFill>
              <a:srgbClr val="22C55E"/>
            </a:solidFill>
            <a:prstDash val="dash"/>
          </a:ln>
        </p:spPr>
      </p:sp>
      <p:sp>
        <p:nvSpPr>
          <p:cNvPr id="41" name="Step Compute AQI"/>
          <p:cNvSpPr/>
          <p:nvPr/>
        </p:nvSpPr>
        <p:spPr>
          <a:xfrm>
            <a:off x="585216" y="2487168"/>
            <a:ext cx="1426464" cy="438912"/>
          </a:xfrm>
          <a:prstGeom prst="roundRect">
            <a:avLst>
              <a:gd name="adj" fmla="val 16667"/>
            </a:avLst>
          </a:prstGeom>
          <a:solidFill>
            <a:srgbClr val="22C55E"/>
          </a:solidFill>
          <a:ln w="12700">
            <a:solidFill>
              <a:srgbClr val="22C55E"/>
            </a:solidFill>
            <a:prstDash val="solid"/>
          </a:ln>
        </p:spPr>
      </p:sp>
      <p:sp>
        <p:nvSpPr>
          <p:cNvPr id="42" name="Text 40"/>
          <p:cNvSpPr txBox="1"/>
          <p:nvPr/>
        </p:nvSpPr>
        <p:spPr>
          <a:xfrm>
            <a:off x="585216" y="2487168"/>
            <a:ext cx="1426464" cy="438912"/>
          </a:xfrm>
          <a:prstGeom prst="rect">
            <a:avLst/>
          </a:prstGeom>
          <a:noFill/>
          <a:ln/>
        </p:spPr>
        <p:txBody>
          <a:bodyPr wrap="square" lIns="25400" tIns="25400" rIns="25400" bIns="25400" rtlCol="0" anchor="ctr"/>
          <a:lstStyle/>
          <a:p>
            <a:pPr algn="ctr" indent="0" marL="0">
              <a:buNone/>
            </a:pPr>
            <a:r>
              <a:rPr lang="en-US" sz="1050" b="1" dirty="0">
                <a:solidFill>
                  <a:srgbClr val="1B1B1B"/>
                </a:solidFill>
                <a:latin typeface="Calibri" pitchFamily="34" charset="0"/>
                <a:ea typeface="Calibri" pitchFamily="34" charset="-122"/>
                <a:cs typeface="Calibri" pitchFamily="34" charset="-120"/>
              </a:rPr>
              <a:t>Compute AQI</a:t>
            </a:r>
            <a:endParaRPr lang="en-US" sz="1050" dirty="0"/>
          </a:p>
        </p:txBody>
      </p:sp>
      <p:sp>
        <p:nvSpPr>
          <p:cNvPr id="43" name="Text 41"/>
          <p:cNvSpPr txBox="1"/>
          <p:nvPr/>
        </p:nvSpPr>
        <p:spPr>
          <a:xfrm>
            <a:off x="2011680" y="2487168"/>
            <a:ext cx="210312" cy="438912"/>
          </a:xfrm>
          <a:prstGeom prst="rect">
            <a:avLst/>
          </a:prstGeom>
          <a:noFill/>
          <a:ln/>
        </p:spPr>
        <p:txBody>
          <a:bodyPr wrap="square" lIns="0" tIns="0" rIns="0" bIns="0" rtlCol="0" anchor="ctr"/>
          <a:lstStyle/>
          <a:p>
            <a:pPr algn="ctr" indent="0" marL="0">
              <a:buNone/>
            </a:pPr>
            <a:r>
              <a:rPr lang="en-US" sz="1200" b="1" dirty="0">
                <a:solidFill>
                  <a:srgbClr val="4ADE80"/>
                </a:solidFill>
                <a:latin typeface="Calibri" pitchFamily="34" charset="0"/>
                <a:ea typeface="Calibri" pitchFamily="34" charset="-122"/>
                <a:cs typeface="Calibri" pitchFamily="34" charset="-120"/>
              </a:rPr>
              <a:t>→</a:t>
            </a:r>
            <a:endParaRPr lang="en-US" sz="1200" dirty="0"/>
          </a:p>
        </p:txBody>
      </p:sp>
      <p:sp>
        <p:nvSpPr>
          <p:cNvPr id="44" name="Step Suggest source"/>
          <p:cNvSpPr/>
          <p:nvPr/>
        </p:nvSpPr>
        <p:spPr>
          <a:xfrm>
            <a:off x="2221992" y="2487168"/>
            <a:ext cx="1426464" cy="438912"/>
          </a:xfrm>
          <a:prstGeom prst="roundRect">
            <a:avLst>
              <a:gd name="adj" fmla="val 16667"/>
            </a:avLst>
          </a:prstGeom>
          <a:solidFill>
            <a:srgbClr val="22C55E"/>
          </a:solidFill>
          <a:ln w="12700">
            <a:solidFill>
              <a:srgbClr val="22C55E"/>
            </a:solidFill>
            <a:prstDash val="solid"/>
          </a:ln>
        </p:spPr>
      </p:sp>
      <p:sp>
        <p:nvSpPr>
          <p:cNvPr id="45" name="Text 43"/>
          <p:cNvSpPr txBox="1"/>
          <p:nvPr/>
        </p:nvSpPr>
        <p:spPr>
          <a:xfrm>
            <a:off x="2221992" y="2487168"/>
            <a:ext cx="1426464" cy="438912"/>
          </a:xfrm>
          <a:prstGeom prst="rect">
            <a:avLst/>
          </a:prstGeom>
          <a:noFill/>
          <a:ln/>
        </p:spPr>
        <p:txBody>
          <a:bodyPr wrap="square" lIns="25400" tIns="25400" rIns="25400" bIns="25400" rtlCol="0" anchor="ctr"/>
          <a:lstStyle/>
          <a:p>
            <a:pPr algn="ctr" indent="0" marL="0">
              <a:buNone/>
            </a:pPr>
            <a:r>
              <a:rPr lang="en-US" sz="1050" b="1" dirty="0">
                <a:solidFill>
                  <a:srgbClr val="1B1B1B"/>
                </a:solidFill>
                <a:latin typeface="Calibri" pitchFamily="34" charset="0"/>
                <a:ea typeface="Calibri" pitchFamily="34" charset="-122"/>
                <a:cs typeface="Calibri" pitchFamily="34" charset="-120"/>
              </a:rPr>
              <a:t>Suggest source</a:t>
            </a:r>
            <a:endParaRPr lang="en-US" sz="1050" dirty="0"/>
          </a:p>
        </p:txBody>
      </p:sp>
      <p:sp>
        <p:nvSpPr>
          <p:cNvPr id="46" name="Text 44"/>
          <p:cNvSpPr txBox="1"/>
          <p:nvPr/>
        </p:nvSpPr>
        <p:spPr>
          <a:xfrm>
            <a:off x="3648456" y="2487168"/>
            <a:ext cx="210312" cy="438912"/>
          </a:xfrm>
          <a:prstGeom prst="rect">
            <a:avLst/>
          </a:prstGeom>
          <a:noFill/>
          <a:ln/>
        </p:spPr>
        <p:txBody>
          <a:bodyPr wrap="square" lIns="0" tIns="0" rIns="0" bIns="0" rtlCol="0" anchor="ctr"/>
          <a:lstStyle/>
          <a:p>
            <a:pPr algn="ctr" indent="0" marL="0">
              <a:buNone/>
            </a:pPr>
            <a:r>
              <a:rPr lang="en-US" sz="1200" b="1" dirty="0">
                <a:solidFill>
                  <a:srgbClr val="4ADE80"/>
                </a:solidFill>
                <a:latin typeface="Calibri" pitchFamily="34" charset="0"/>
                <a:ea typeface="Calibri" pitchFamily="34" charset="-122"/>
                <a:cs typeface="Calibri" pitchFamily="34" charset="-120"/>
              </a:rPr>
              <a:t>→</a:t>
            </a:r>
            <a:endParaRPr lang="en-US" sz="1200" dirty="0"/>
          </a:p>
        </p:txBody>
      </p:sp>
      <p:sp>
        <p:nvSpPr>
          <p:cNvPr id="47" name="Step Flag events"/>
          <p:cNvSpPr/>
          <p:nvPr/>
        </p:nvSpPr>
        <p:spPr>
          <a:xfrm>
            <a:off x="3858768" y="2487168"/>
            <a:ext cx="1426464" cy="438912"/>
          </a:xfrm>
          <a:prstGeom prst="roundRect">
            <a:avLst>
              <a:gd name="adj" fmla="val 16667"/>
            </a:avLst>
          </a:prstGeom>
          <a:solidFill>
            <a:srgbClr val="22C55E"/>
          </a:solidFill>
          <a:ln w="12700">
            <a:solidFill>
              <a:srgbClr val="22C55E"/>
            </a:solidFill>
            <a:prstDash val="solid"/>
          </a:ln>
        </p:spPr>
      </p:sp>
      <p:sp>
        <p:nvSpPr>
          <p:cNvPr id="48" name="Text 46"/>
          <p:cNvSpPr txBox="1"/>
          <p:nvPr/>
        </p:nvSpPr>
        <p:spPr>
          <a:xfrm>
            <a:off x="3858768" y="2487168"/>
            <a:ext cx="1426464" cy="438912"/>
          </a:xfrm>
          <a:prstGeom prst="rect">
            <a:avLst/>
          </a:prstGeom>
          <a:noFill/>
          <a:ln/>
        </p:spPr>
        <p:txBody>
          <a:bodyPr wrap="square" lIns="25400" tIns="25400" rIns="25400" bIns="25400" rtlCol="0" anchor="ctr"/>
          <a:lstStyle/>
          <a:p>
            <a:pPr algn="ctr" indent="0" marL="0">
              <a:buNone/>
            </a:pPr>
            <a:r>
              <a:rPr lang="en-US" sz="1050" b="1" dirty="0">
                <a:solidFill>
                  <a:srgbClr val="1B1B1B"/>
                </a:solidFill>
                <a:latin typeface="Calibri" pitchFamily="34" charset="0"/>
                <a:ea typeface="Calibri" pitchFamily="34" charset="-122"/>
                <a:cs typeface="Calibri" pitchFamily="34" charset="-120"/>
              </a:rPr>
              <a:t>Flag events</a:t>
            </a:r>
            <a:endParaRPr lang="en-US" sz="1050" dirty="0"/>
          </a:p>
        </p:txBody>
      </p:sp>
      <p:sp>
        <p:nvSpPr>
          <p:cNvPr id="49" name="Text 47"/>
          <p:cNvSpPr txBox="1"/>
          <p:nvPr/>
        </p:nvSpPr>
        <p:spPr>
          <a:xfrm>
            <a:off x="5285232" y="2487168"/>
            <a:ext cx="210312" cy="438912"/>
          </a:xfrm>
          <a:prstGeom prst="rect">
            <a:avLst/>
          </a:prstGeom>
          <a:noFill/>
          <a:ln/>
        </p:spPr>
        <p:txBody>
          <a:bodyPr wrap="square" lIns="0" tIns="0" rIns="0" bIns="0" rtlCol="0" anchor="ctr"/>
          <a:lstStyle/>
          <a:p>
            <a:pPr algn="ctr" indent="0" marL="0">
              <a:buNone/>
            </a:pPr>
            <a:r>
              <a:rPr lang="en-US" sz="1200" b="1" dirty="0">
                <a:solidFill>
                  <a:srgbClr val="4ADE80"/>
                </a:solidFill>
                <a:latin typeface="Calibri" pitchFamily="34" charset="0"/>
                <a:ea typeface="Calibri" pitchFamily="34" charset="-122"/>
                <a:cs typeface="Calibri" pitchFamily="34" charset="-120"/>
              </a:rPr>
              <a:t>→</a:t>
            </a:r>
            <a:endParaRPr lang="en-US" sz="1200" dirty="0"/>
          </a:p>
        </p:txBody>
      </p:sp>
      <p:sp>
        <p:nvSpPr>
          <p:cNvPr id="50" name="Step Forecast + early warning"/>
          <p:cNvSpPr/>
          <p:nvPr/>
        </p:nvSpPr>
        <p:spPr>
          <a:xfrm>
            <a:off x="5495544" y="2487168"/>
            <a:ext cx="1426464" cy="438912"/>
          </a:xfrm>
          <a:prstGeom prst="roundRect">
            <a:avLst>
              <a:gd name="adj" fmla="val 16667"/>
            </a:avLst>
          </a:prstGeom>
          <a:solidFill>
            <a:srgbClr val="22C55E"/>
          </a:solidFill>
          <a:ln w="12700">
            <a:solidFill>
              <a:srgbClr val="22C55E"/>
            </a:solidFill>
            <a:prstDash val="solid"/>
          </a:ln>
        </p:spPr>
      </p:sp>
      <p:sp>
        <p:nvSpPr>
          <p:cNvPr id="51" name="Text 49"/>
          <p:cNvSpPr txBox="1"/>
          <p:nvPr/>
        </p:nvSpPr>
        <p:spPr>
          <a:xfrm>
            <a:off x="5495544" y="2487168"/>
            <a:ext cx="1426464" cy="438912"/>
          </a:xfrm>
          <a:prstGeom prst="rect">
            <a:avLst/>
          </a:prstGeom>
          <a:noFill/>
          <a:ln/>
        </p:spPr>
        <p:txBody>
          <a:bodyPr wrap="square" lIns="25400" tIns="25400" rIns="25400" bIns="25400" rtlCol="0" anchor="ctr"/>
          <a:lstStyle/>
          <a:p>
            <a:pPr algn="ctr" indent="0" marL="0">
              <a:buNone/>
            </a:pPr>
            <a:r>
              <a:rPr lang="en-US" sz="1050" b="1" dirty="0">
                <a:solidFill>
                  <a:srgbClr val="1B1B1B"/>
                </a:solidFill>
                <a:latin typeface="Calibri" pitchFamily="34" charset="0"/>
                <a:ea typeface="Calibri" pitchFamily="34" charset="-122"/>
                <a:cs typeface="Calibri" pitchFamily="34" charset="-120"/>
              </a:rPr>
              <a:t>Forecast + early warning</a:t>
            </a:r>
            <a:endParaRPr lang="en-US" sz="1050" dirty="0"/>
          </a:p>
        </p:txBody>
      </p:sp>
      <p:sp>
        <p:nvSpPr>
          <p:cNvPr id="52" name="Text 50"/>
          <p:cNvSpPr txBox="1"/>
          <p:nvPr/>
        </p:nvSpPr>
        <p:spPr>
          <a:xfrm>
            <a:off x="6922008" y="2487168"/>
            <a:ext cx="210312" cy="438912"/>
          </a:xfrm>
          <a:prstGeom prst="rect">
            <a:avLst/>
          </a:prstGeom>
          <a:noFill/>
          <a:ln/>
        </p:spPr>
        <p:txBody>
          <a:bodyPr wrap="square" lIns="0" tIns="0" rIns="0" bIns="0" rtlCol="0" anchor="ctr"/>
          <a:lstStyle/>
          <a:p>
            <a:pPr algn="ctr" indent="0" marL="0">
              <a:buNone/>
            </a:pPr>
            <a:r>
              <a:rPr lang="en-US" sz="1200" b="1" dirty="0">
                <a:solidFill>
                  <a:srgbClr val="4ADE80"/>
                </a:solidFill>
                <a:latin typeface="Calibri" pitchFamily="34" charset="0"/>
                <a:ea typeface="Calibri" pitchFamily="34" charset="-122"/>
                <a:cs typeface="Calibri" pitchFamily="34" charset="-120"/>
              </a:rPr>
              <a:t>→</a:t>
            </a:r>
            <a:endParaRPr lang="en-US" sz="1200" dirty="0"/>
          </a:p>
        </p:txBody>
      </p:sp>
      <p:sp>
        <p:nvSpPr>
          <p:cNvPr id="53" name="Step Heatmap, hotspots, trends"/>
          <p:cNvSpPr/>
          <p:nvPr/>
        </p:nvSpPr>
        <p:spPr>
          <a:xfrm>
            <a:off x="7132320" y="2487168"/>
            <a:ext cx="1426464" cy="438912"/>
          </a:xfrm>
          <a:prstGeom prst="roundRect">
            <a:avLst>
              <a:gd name="adj" fmla="val 16667"/>
            </a:avLst>
          </a:prstGeom>
          <a:solidFill>
            <a:srgbClr val="22C55E"/>
          </a:solidFill>
          <a:ln w="12700">
            <a:solidFill>
              <a:srgbClr val="22C55E"/>
            </a:solidFill>
            <a:prstDash val="solid"/>
          </a:ln>
        </p:spPr>
      </p:sp>
      <p:sp>
        <p:nvSpPr>
          <p:cNvPr id="54" name="Text 52"/>
          <p:cNvSpPr txBox="1"/>
          <p:nvPr/>
        </p:nvSpPr>
        <p:spPr>
          <a:xfrm>
            <a:off x="7132320" y="2487168"/>
            <a:ext cx="1426464" cy="438912"/>
          </a:xfrm>
          <a:prstGeom prst="rect">
            <a:avLst/>
          </a:prstGeom>
          <a:noFill/>
          <a:ln/>
        </p:spPr>
        <p:txBody>
          <a:bodyPr wrap="square" lIns="25400" tIns="25400" rIns="25400" bIns="25400" rtlCol="0" anchor="ctr"/>
          <a:lstStyle/>
          <a:p>
            <a:pPr algn="ctr" indent="0" marL="0">
              <a:buNone/>
            </a:pPr>
            <a:r>
              <a:rPr lang="en-US" sz="1050" b="1" dirty="0">
                <a:solidFill>
                  <a:srgbClr val="1B1B1B"/>
                </a:solidFill>
                <a:latin typeface="Calibri" pitchFamily="34" charset="0"/>
                <a:ea typeface="Calibri" pitchFamily="34" charset="-122"/>
                <a:cs typeface="Calibri" pitchFamily="34" charset="-120"/>
              </a:rPr>
              <a:t>Heatmap, hotspots, trends</a:t>
            </a:r>
            <a:endParaRPr lang="en-US" sz="1050" dirty="0"/>
          </a:p>
        </p:txBody>
      </p:sp>
      <p:sp>
        <p:nvSpPr>
          <p:cNvPr id="55" name="Shot overview"/>
          <p:cNvSpPr/>
          <p:nvPr/>
        </p:nvSpPr>
        <p:spPr>
          <a:xfrm>
            <a:off x="457200" y="3200400"/>
            <a:ext cx="2624328" cy="1481328"/>
          </a:xfrm>
          <a:prstGeom prst="roundRect">
            <a:avLst>
              <a:gd name="adj" fmla="val 6173"/>
            </a:avLst>
          </a:prstGeom>
          <a:solidFill>
            <a:srgbClr val="0B1F15"/>
          </a:solidFill>
          <a:ln w="19050">
            <a:solidFill>
              <a:srgbClr val="22C55E"/>
            </a:solidFill>
            <a:prstDash val="dash"/>
          </a:ln>
        </p:spPr>
      </p:sp>
      <p:sp>
        <p:nvSpPr>
          <p:cNvPr id="56" name="Shot overview label"/>
          <p:cNvSpPr txBox="1"/>
          <p:nvPr/>
        </p:nvSpPr>
        <p:spPr>
          <a:xfrm>
            <a:off x="457200" y="3200400"/>
            <a:ext cx="2624328" cy="1481328"/>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1. Overview</a:t>
            </a:r>
            <a:endParaRPr lang="en-US" sz="1100" dirty="0"/>
          </a:p>
        </p:txBody>
      </p:sp>
      <p:sp>
        <p:nvSpPr>
          <p:cNvPr id="57" name="Shot heatmap"/>
          <p:cNvSpPr/>
          <p:nvPr/>
        </p:nvSpPr>
        <p:spPr>
          <a:xfrm>
            <a:off x="3259836" y="3200400"/>
            <a:ext cx="2624328" cy="1481328"/>
          </a:xfrm>
          <a:prstGeom prst="roundRect">
            <a:avLst>
              <a:gd name="adj" fmla="val 6173"/>
            </a:avLst>
          </a:prstGeom>
          <a:solidFill>
            <a:srgbClr val="0B1F15"/>
          </a:solidFill>
          <a:ln w="19050">
            <a:solidFill>
              <a:srgbClr val="22C55E"/>
            </a:solidFill>
            <a:prstDash val="dash"/>
          </a:ln>
        </p:spPr>
      </p:sp>
      <p:sp>
        <p:nvSpPr>
          <p:cNvPr id="58" name="Shot heatmap label"/>
          <p:cNvSpPr txBox="1"/>
          <p:nvPr/>
        </p:nvSpPr>
        <p:spPr>
          <a:xfrm>
            <a:off x="3259836" y="3200400"/>
            <a:ext cx="2624328" cy="1481328"/>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2. Heatmap</a:t>
            </a:r>
            <a:endParaRPr lang="en-US" sz="1100" dirty="0"/>
          </a:p>
        </p:txBody>
      </p:sp>
      <p:sp>
        <p:nvSpPr>
          <p:cNvPr id="59" name="Shot livemap"/>
          <p:cNvSpPr/>
          <p:nvPr/>
        </p:nvSpPr>
        <p:spPr>
          <a:xfrm>
            <a:off x="6062472" y="3200400"/>
            <a:ext cx="2624328" cy="1481328"/>
          </a:xfrm>
          <a:prstGeom prst="roundRect">
            <a:avLst>
              <a:gd name="adj" fmla="val 6173"/>
            </a:avLst>
          </a:prstGeom>
          <a:solidFill>
            <a:srgbClr val="0B1F15"/>
          </a:solidFill>
          <a:ln w="19050">
            <a:solidFill>
              <a:srgbClr val="22C55E"/>
            </a:solidFill>
            <a:prstDash val="dash"/>
          </a:ln>
        </p:spPr>
      </p:sp>
      <p:sp>
        <p:nvSpPr>
          <p:cNvPr id="60" name="Shot livemap label"/>
          <p:cNvSpPr txBox="1"/>
          <p:nvPr/>
        </p:nvSpPr>
        <p:spPr>
          <a:xfrm>
            <a:off x="6062472" y="3200400"/>
            <a:ext cx="2624328" cy="1481328"/>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3. Live map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1B"/>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E8F5EC"/>
                </a:solidFill>
                <a:latin typeface="Calibri" pitchFamily="34" charset="0"/>
                <a:ea typeface="Calibri" pitchFamily="34" charset="-122"/>
                <a:cs typeface="Calibri" pitchFamily="34" charset="-120"/>
              </a:rPr>
              <a:t>Tech stack</a:t>
            </a:r>
            <a:endParaRPr lang="en-US" sz="3000" dirty="0"/>
          </a:p>
        </p:txBody>
      </p:sp>
      <p:sp>
        <p:nvSpPr>
          <p:cNvPr id="3" name="Subtitle"/>
          <p:cNvSpPr txBox="1"/>
          <p:nvPr/>
        </p:nvSpPr>
        <p:spPr>
          <a:xfrm>
            <a:off x="457200" y="822960"/>
            <a:ext cx="8229600" cy="274320"/>
          </a:xfrm>
          <a:prstGeom prst="rect">
            <a:avLst/>
          </a:prstGeom>
          <a:noFill/>
          <a:ln/>
        </p:spPr>
        <p:txBody>
          <a:bodyPr wrap="square" lIns="0" tIns="0" rIns="0" bIns="0" rtlCol="0" anchor="ctr"/>
          <a:lstStyle/>
          <a:p>
            <a:pPr indent="0" marL="0">
              <a:buNone/>
            </a:pPr>
            <a:r>
              <a:rPr lang="en-US" sz="1400" dirty="0">
                <a:solidFill>
                  <a:srgbClr val="4ADE80"/>
                </a:solidFill>
                <a:latin typeface="Calibri" pitchFamily="34" charset="0"/>
                <a:ea typeface="Calibri" pitchFamily="34" charset="-122"/>
                <a:cs typeface="Calibri" pitchFamily="34" charset="-120"/>
              </a:rPr>
              <a:t>Built end to end in Python, served from one site</a:t>
            </a:r>
            <a:endParaRPr lang="en-US" sz="1400" dirty="0"/>
          </a:p>
        </p:txBody>
      </p:sp>
      <p:graphicFrame>
        <p:nvGraphicFramePr>
          <p:cNvPr id="3" name="Tech stack"/>
          <p:cNvGraphicFramePr>
            <a:graphicFrameLocks noGrp="1"/>
          </p:cNvGraphicFramePr>
          <p:nvPr>
            <p:extLst>
              <p:ext uri="{D42A27DB-BD31-4B8C-83A1-F6EECF244321}">
                <p14:modId xmlns:p14="http://schemas.microsoft.com/office/powerpoint/2010/main" val="1579011935"/>
              </p:ext>
            </p:extLst>
          </p:nvPr>
        </p:nvGraphicFramePr>
        <p:xfrm>
          <a:off x="457200" y="1188720"/>
          <a:ext cx="5440680" cy="914400"/>
        </p:xfrm>
        <a:graphic>
          <a:graphicData uri="http://schemas.openxmlformats.org/drawingml/2006/table">
            <a:tbl>
              <a:tblPr/>
              <a:tblGrid>
                <a:gridCol w="1051560"/>
                <a:gridCol w="1783080"/>
                <a:gridCol w="2606040"/>
              </a:tblGrid>
              <a:tr h="365760">
                <a:tc>
                  <a:txBody>
                    <a:bodyPr/>
                    <a:lstStyle/>
                    <a:p>
                      <a:pPr indent="0" marL="0">
                        <a:buNone/>
                      </a:pPr>
                      <a:r>
                        <a:rPr lang="en-US" sz="1100" b="1" dirty="0">
                          <a:solidFill>
                            <a:srgbClr val="1B1B1B"/>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22C55E"/>
                    </a:solidFill>
                  </a:tcPr>
                </a:tc>
                <a:tc>
                  <a:txBody>
                    <a:bodyPr/>
                    <a:lstStyle/>
                    <a:p>
                      <a:pPr indent="0" marL="0">
                        <a:buNone/>
                      </a:pPr>
                      <a:r>
                        <a:rPr lang="en-US" sz="1100" b="1" dirty="0">
                          <a:solidFill>
                            <a:srgbClr val="1B1B1B"/>
                          </a:solidFill>
                          <a:latin typeface="Calibri" pitchFamily="34" charset="0"/>
                          <a:ea typeface="Calibri" pitchFamily="34" charset="-122"/>
                          <a:cs typeface="Calibri" pitchFamily="34" charset="-120"/>
                        </a:rPr>
                        <a:t>Technology</a:t>
                      </a:r>
                      <a:endParaRPr lang="en-US" sz="11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22C55E"/>
                    </a:solidFill>
                  </a:tcPr>
                </a:tc>
                <a:tc>
                  <a:txBody>
                    <a:bodyPr/>
                    <a:lstStyle/>
                    <a:p>
                      <a:pPr indent="0" marL="0">
                        <a:buNone/>
                      </a:pPr>
                      <a:r>
                        <a:rPr lang="en-US" sz="1100" b="1" dirty="0">
                          <a:solidFill>
                            <a:srgbClr val="1B1B1B"/>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22C55E"/>
                    </a:solidFill>
                  </a:tcPr>
                </a:tc>
              </a:tr>
              <a:tr h="365760">
                <a:tc>
                  <a:txBody>
                    <a:bodyPr/>
                    <a:lstStyle/>
                    <a:p>
                      <a:pPr indent="0" marL="0">
                        <a:buNone/>
                      </a:pPr>
                      <a:r>
                        <a:rPr lang="en-US" sz="1000" b="1" dirty="0">
                          <a:solidFill>
                            <a:srgbClr val="4ADE80"/>
                          </a:solidFill>
                          <a:latin typeface="Calibri" pitchFamily="34" charset="0"/>
                          <a:ea typeface="Calibri" pitchFamily="34" charset="-122"/>
                          <a:cs typeface="Calibri" pitchFamily="34" charset="-120"/>
                        </a:rPr>
                        <a:t>Data and API</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Pydantic v2, FastAPI, Uvicorn</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Strict data contract, validated ingest, REST and WebSocket</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r>
              <a:tr h="365760">
                <a:tc>
                  <a:txBody>
                    <a:bodyPr/>
                    <a:lstStyle/>
                    <a:p>
                      <a:pPr indent="0" marL="0">
                        <a:buNone/>
                      </a:pPr>
                      <a:r>
                        <a:rPr lang="en-US" sz="1000" b="1" dirty="0">
                          <a:solidFill>
                            <a:srgbClr val="4ADE80"/>
                          </a:solidFill>
                          <a:latin typeface="Calibri" pitchFamily="34" charset="0"/>
                          <a:ea typeface="Calibri" pitchFamily="34" charset="-122"/>
                          <a:cs typeface="Calibri" pitchFamily="34" charset="-120"/>
                        </a:rPr>
                        <a:t>Storage</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SQLAlchemy 2, SQLite, Alembic</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Raw and derived tables, migrations, Postgres-ready</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r>
              <a:tr h="365760">
                <a:tc>
                  <a:txBody>
                    <a:bodyPr/>
                    <a:lstStyle/>
                    <a:p>
                      <a:pPr indent="0" marL="0">
                        <a:buNone/>
                      </a:pPr>
                      <a:r>
                        <a:rPr lang="en-US" sz="1000" b="1" dirty="0">
                          <a:solidFill>
                            <a:srgbClr val="4ADE80"/>
                          </a:solidFill>
                          <a:latin typeface="Calibri" pitchFamily="34" charset="0"/>
                          <a:ea typeface="Calibri" pitchFamily="34" charset="-122"/>
                          <a:cs typeface="Calibri" pitchFamily="34" charset="-120"/>
                        </a:rPr>
                        <a:t>Analytics</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pandas, NumPy, APScheduler</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CPCB AQI, baselines, events, scheduled worker</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r>
              <a:tr h="365760">
                <a:tc>
                  <a:txBody>
                    <a:bodyPr/>
                    <a:lstStyle/>
                    <a:p>
                      <a:pPr indent="0" marL="0">
                        <a:buNone/>
                      </a:pPr>
                      <a:r>
                        <a:rPr lang="en-US" sz="1000" b="1" dirty="0">
                          <a:solidFill>
                            <a:srgbClr val="4ADE80"/>
                          </a:solidFill>
                          <a:latin typeface="Calibri" pitchFamily="34" charset="0"/>
                          <a:ea typeface="Calibri" pitchFamily="34" charset="-122"/>
                          <a:cs typeface="Calibri" pitchFamily="34" charset="-120"/>
                        </a:rPr>
                        <a:t>Machine learning</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scikit-learn, statsmodels</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Gradient boosting, Isolation Forest, DBSCAN, Gaussian process, STL</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r>
              <a:tr h="365760">
                <a:tc>
                  <a:txBody>
                    <a:bodyPr/>
                    <a:lstStyle/>
                    <a:p>
                      <a:pPr indent="0" marL="0">
                        <a:buNone/>
                      </a:pPr>
                      <a:r>
                        <a:rPr lang="en-US" sz="1000" b="1" dirty="0">
                          <a:solidFill>
                            <a:srgbClr val="4ADE80"/>
                          </a:solidFill>
                          <a:latin typeface="Calibri" pitchFamily="34" charset="0"/>
                          <a:ea typeface="Calibri" pitchFamily="34" charset="-122"/>
                          <a:cs typeface="Calibri" pitchFamily="34" charset="-120"/>
                        </a:rPr>
                        <a:t>Dashboard</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Streamlit, Altair, Folium</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Role-based screens, heatmap, live and offline maps</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r>
              <a:tr h="365760">
                <a:tc>
                  <a:txBody>
                    <a:bodyPr/>
                    <a:lstStyle/>
                    <a:p>
                      <a:pPr indent="0" marL="0">
                        <a:buNone/>
                      </a:pPr>
                      <a:r>
                        <a:rPr lang="en-US" sz="1000" b="1" dirty="0">
                          <a:solidFill>
                            <a:srgbClr val="4ADE80"/>
                          </a:solidFill>
                          <a:latin typeface="Calibri" pitchFamily="34" charset="0"/>
                          <a:ea typeface="Calibri" pitchFamily="34" charset="-122"/>
                          <a:cs typeface="Calibri" pitchFamily="34" charset="-120"/>
                        </a:rPr>
                        <a:t>Website</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HTML, CSS, JavaScript</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Animated home page with live AQI and one shared login</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r>
              <a:tr h="365760">
                <a:tc>
                  <a:txBody>
                    <a:bodyPr/>
                    <a:lstStyle/>
                    <a:p>
                      <a:pPr indent="0" marL="0">
                        <a:buNone/>
                      </a:pPr>
                      <a:r>
                        <a:rPr lang="en-US" sz="1000" b="1" dirty="0">
                          <a:solidFill>
                            <a:srgbClr val="4ADE80"/>
                          </a:solidFill>
                          <a:latin typeface="Calibri" pitchFamily="34" charset="0"/>
                          <a:ea typeface="Calibri" pitchFamily="34" charset="-122"/>
                          <a:cs typeface="Calibri" pitchFamily="34" charset="-120"/>
                        </a:rPr>
                        <a:t>Security</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scrypt, signed tokens</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Public and official roles, HttpOnly session cookie</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F2A1C"/>
                    </a:solidFill>
                  </a:tcPr>
                </a:tc>
              </a:tr>
              <a:tr h="365760">
                <a:tc>
                  <a:txBody>
                    <a:bodyPr/>
                    <a:lstStyle/>
                    <a:p>
                      <a:pPr indent="0" marL="0">
                        <a:buNone/>
                      </a:pPr>
                      <a:r>
                        <a:rPr lang="en-US" sz="1000" b="1" dirty="0">
                          <a:solidFill>
                            <a:srgbClr val="4ADE80"/>
                          </a:solidFill>
                          <a:latin typeface="Calibri" pitchFamily="34" charset="0"/>
                          <a:ea typeface="Calibri" pitchFamily="34" charset="-122"/>
                          <a:cs typeface="Calibri" pitchFamily="34" charset="-120"/>
                        </a:rPr>
                        <a:t>Data and ops</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OSMnx, PowerShell, pytest</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000" dirty="0">
                          <a:solidFill>
                            <a:srgbClr val="E8F5EC"/>
                          </a:solidFill>
                          <a:latin typeface="Calibri" pitchFamily="34" charset="0"/>
                          <a:ea typeface="Calibri" pitchFamily="34" charset="-122"/>
                          <a:cs typeface="Calibri" pitchFamily="34" charset="-120"/>
                        </a:rPr>
                        <a:t>Simulated sensors and bus routes, one-command start, 156 tests</a:t>
                      </a:r>
                      <a:endParaRPr lang="en-US" sz="1000" dirty="0">
                        <a:latin typeface="Calibri" charset="0"/>
                        <a:ea typeface="Calibri" charset="0"/>
                        <a:cs typeface="Calibri" charset="0"/>
                      </a:endParaRPr>
                    </a:p>
                  </a:txBody>
                  <a:tcPr marL="64008" marR="64008" marT="27432" marB="27432" anchor="ctr">
                    <a:lnL w="0" cap="flat" cmpd="sng" algn="ctr">
                      <a:noFill/>
                    </a:lnL>
                    <a:lnR w="0" cap="flat" cmpd="sng" algn="ctr">
                      <a:noFill/>
                    </a:lnR>
                    <a:lnT w="0" cap="flat" cmpd="sng" algn="ctr">
                      <a:noFill/>
                    </a:lnT>
                    <a:lnB w="0" cap="flat" cmpd="sng" algn="ctr">
                      <a:noFill/>
                    </a:lnB>
                    <a:solidFill>
                      <a:srgbClr val="0B1F15"/>
                    </a:solidFill>
                  </a:tcPr>
                </a:tc>
              </a:tr>
            </a:tbl>
          </a:graphicData>
        </a:graphic>
      </p:graphicFrame>
      <p:sp>
        <p:nvSpPr>
          <p:cNvPr id="5" name="Shot zone"/>
          <p:cNvSpPr/>
          <p:nvPr/>
        </p:nvSpPr>
        <p:spPr>
          <a:xfrm>
            <a:off x="6080760" y="1188720"/>
            <a:ext cx="2606040" cy="1627632"/>
          </a:xfrm>
          <a:prstGeom prst="roundRect">
            <a:avLst>
              <a:gd name="adj" fmla="val 5618"/>
            </a:avLst>
          </a:prstGeom>
          <a:solidFill>
            <a:srgbClr val="0B1F15"/>
          </a:solidFill>
          <a:ln w="19050">
            <a:solidFill>
              <a:srgbClr val="22C55E"/>
            </a:solidFill>
            <a:prstDash val="dash"/>
          </a:ln>
        </p:spPr>
      </p:sp>
      <p:sp>
        <p:nvSpPr>
          <p:cNvPr id="6" name="Shot zone label"/>
          <p:cNvSpPr txBox="1"/>
          <p:nvPr/>
        </p:nvSpPr>
        <p:spPr>
          <a:xfrm>
            <a:off x="6080760" y="1188720"/>
            <a:ext cx="2606040" cy="1627632"/>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4. Zone detail</a:t>
            </a:r>
            <a:endParaRPr lang="en-US" sz="1100" dirty="0"/>
          </a:p>
        </p:txBody>
      </p:sp>
      <p:sp>
        <p:nvSpPr>
          <p:cNvPr id="7" name="Shot trends"/>
          <p:cNvSpPr/>
          <p:nvPr/>
        </p:nvSpPr>
        <p:spPr>
          <a:xfrm>
            <a:off x="6080760" y="2944368"/>
            <a:ext cx="2606040" cy="1627632"/>
          </a:xfrm>
          <a:prstGeom prst="roundRect">
            <a:avLst>
              <a:gd name="adj" fmla="val 5618"/>
            </a:avLst>
          </a:prstGeom>
          <a:solidFill>
            <a:srgbClr val="0B1F15"/>
          </a:solidFill>
          <a:ln w="19050">
            <a:solidFill>
              <a:srgbClr val="22C55E"/>
            </a:solidFill>
            <a:prstDash val="dash"/>
          </a:ln>
        </p:spPr>
      </p:sp>
      <p:sp>
        <p:nvSpPr>
          <p:cNvPr id="8" name="Shot trends label"/>
          <p:cNvSpPr txBox="1"/>
          <p:nvPr/>
        </p:nvSpPr>
        <p:spPr>
          <a:xfrm>
            <a:off x="6080760" y="2944368"/>
            <a:ext cx="2606040" cy="1627632"/>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5. Trends</a:t>
            </a:r>
            <a:endParaRPr lang="en-US" sz="1100" dirty="0"/>
          </a:p>
        </p:txBody>
      </p:sp>
    </p:spTree>
  </p:cSld>
  <p:clrMapOvr>
    <a:masterClrMapping/>
  </p:clrMapOvr>
</p:sld>
</file>

<file path=ppt/theme/theme1.xml><?xml version="1.0" encoding="utf-8"?>
<a:theme xmlns:a="http://schemas.openxmlformats.org/drawingml/2006/main" name="Aeronex Black Green">
  <a:themeElements>
    <a:clrScheme name="Aeronex Black Green">
      <a:dk1>
        <a:srgbClr val="1B1B1B"/>
      </a:dk1>
      <a:lt1>
        <a:srgbClr val="E8F5EC"/>
      </a:lt1>
      <a:dk2>
        <a:srgbClr val="0F2A1C"/>
      </a:dk2>
      <a:lt2>
        <a:srgbClr val="8FB5A0"/>
      </a:lt2>
      <a:accent1>
        <a:srgbClr val="22C55E"/>
      </a:accent1>
      <a:accent2>
        <a:srgbClr val="4ADE80"/>
      </a:accent2>
      <a:accent3>
        <a:srgbClr val="166534"/>
      </a:accent3>
      <a:accent4>
        <a:srgbClr val="14532D"/>
      </a:accent4>
      <a:accent5>
        <a:srgbClr val="86EFAC"/>
      </a:accent5>
      <a:accent6>
        <a:srgbClr val="052E16"/>
      </a:accent6>
      <a:hlink>
        <a:srgbClr val="4ADE80"/>
      </a:hlink>
      <a:folHlink>
        <a:srgbClr val="86EFAC"/>
      </a:folHlink>
    </a:clrScheme>
    <a:fontScheme name="Aeronex Black Gree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Aeronex - software overview</dc:title>
  <dc:subject>PptxGenJS Presentation</dc:subject>
  <dc:creator>PptxGenJS</dc:creator>
  <cp:lastModifiedBy>PptxGenJS</cp:lastModifiedBy>
  <cp:revision>1</cp:revision>
  <dcterms:created xsi:type="dcterms:W3CDTF">2026-10-06T07:32:14Z</dcterms:created>
  <dcterms:modified xsi:type="dcterms:W3CDTF">2026-10-06T07:32:14Z</dcterms:modified>
</cp:coreProperties>
</file>