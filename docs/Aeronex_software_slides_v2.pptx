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outputs stand out: multi-horizon AQI forecast with an interval, early-warning probability, source attribution with confidence, an interpolated city heatmap with uncertainty, and hotspot/anomaly detection. All models are trained and scored on simulated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sensor nodes to gateway to FastAPI ingest to SQLite to the analytics and ML worker to the website and dashboard, all served from one port. The gateway buffers and resends if the backend 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1B"/>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E8F5EC"/>
                </a:solidFill>
                <a:latin typeface="Calibri" pitchFamily="34" charset="0"/>
                <a:ea typeface="Calibri" pitchFamily="34" charset="-122"/>
                <a:cs typeface="Calibri" pitchFamily="34" charset="-120"/>
              </a:rPr>
              <a:t>What Aeronex predicts</a:t>
            </a:r>
            <a:endParaRPr lang="en-US" sz="3000" dirty="0"/>
          </a:p>
        </p:txBody>
      </p:sp>
      <p:sp>
        <p:nvSpPr>
          <p:cNvPr id="3" name="Subtitle"/>
          <p:cNvSpPr txBox="1"/>
          <p:nvPr/>
        </p:nvSpPr>
        <p:spPr>
          <a:xfrm>
            <a:off x="457200" y="822960"/>
            <a:ext cx="8229600" cy="274320"/>
          </a:xfrm>
          <a:prstGeom prst="rect">
            <a:avLst/>
          </a:prstGeom>
          <a:noFill/>
          <a:ln/>
        </p:spPr>
        <p:txBody>
          <a:bodyPr wrap="square" lIns="0" tIns="0" rIns="0" bIns="0" rtlCol="0" anchor="ctr"/>
          <a:lstStyle/>
          <a:p>
            <a:pPr indent="0" marL="0">
              <a:buNone/>
            </a:pPr>
            <a:r>
              <a:rPr lang="en-US" sz="1400" dirty="0">
                <a:solidFill>
                  <a:srgbClr val="4ADE80"/>
                </a:solidFill>
                <a:latin typeface="Calibri" pitchFamily="34" charset="0"/>
                <a:ea typeface="Calibri" pitchFamily="34" charset="-122"/>
                <a:cs typeface="Calibri" pitchFamily="34" charset="-120"/>
              </a:rPr>
              <a:t>Zone-level air quality for Hyderabad: live, forecast and explained</a:t>
            </a:r>
            <a:endParaRPr lang="en-US" sz="1400" dirty="0"/>
          </a:p>
        </p:txBody>
      </p:sp>
      <p:sp>
        <p:nvSpPr>
          <p:cNvPr id="4" name="Card AQI forecast"/>
          <p:cNvSpPr/>
          <p:nvPr/>
        </p:nvSpPr>
        <p:spPr>
          <a:xfrm>
            <a:off x="457200" y="1280160"/>
            <a:ext cx="3840480" cy="530352"/>
          </a:xfrm>
          <a:prstGeom prst="roundRect">
            <a:avLst>
              <a:gd name="adj" fmla="val 13793"/>
            </a:avLst>
          </a:prstGeom>
          <a:solidFill>
            <a:srgbClr val="0F2A1C"/>
          </a:solidFill>
          <a:ln w="12700">
            <a:solidFill>
              <a:srgbClr val="14532D"/>
            </a:solidFill>
            <a:prstDash val="solid"/>
          </a:ln>
        </p:spPr>
      </p:sp>
      <p:sp>
        <p:nvSpPr>
          <p:cNvPr id="5" name="Dot 1"/>
          <p:cNvSpPr/>
          <p:nvPr/>
        </p:nvSpPr>
        <p:spPr>
          <a:xfrm>
            <a:off x="566928" y="1435608"/>
            <a:ext cx="219456" cy="219456"/>
          </a:xfrm>
          <a:prstGeom prst="ellipse">
            <a:avLst/>
          </a:prstGeom>
          <a:solidFill>
            <a:srgbClr val="22C55E"/>
          </a:solidFill>
          <a:ln w="12700">
            <a:solidFill>
              <a:srgbClr val="22C55E"/>
            </a:solidFill>
            <a:prstDash val="solid"/>
          </a:ln>
        </p:spPr>
      </p:sp>
      <p:sp>
        <p:nvSpPr>
          <p:cNvPr id="6" name="Text 4"/>
          <p:cNvSpPr txBox="1"/>
          <p:nvPr/>
        </p:nvSpPr>
        <p:spPr>
          <a:xfrm>
            <a:off x="914400" y="1280160"/>
            <a:ext cx="3291840" cy="530352"/>
          </a:xfrm>
          <a:prstGeom prst="rect">
            <a:avLst/>
          </a:prstGeom>
          <a:noFill/>
          <a:ln/>
        </p:spPr>
        <p:txBody>
          <a:bodyPr wrap="square" lIns="0" tIns="0" rIns="0" bIns="0" rtlCol="0" anchor="ctr"/>
          <a:lstStyle/>
          <a:p>
            <a:pPr indent="0" marL="0">
              <a:buNone/>
            </a:pPr>
            <a:r>
              <a:rPr lang="en-US" sz="1200" b="1" dirty="0">
                <a:solidFill>
                  <a:srgbClr val="4ADE80"/>
                </a:solidFill>
                <a:latin typeface="Calibri" pitchFamily="34" charset="0"/>
                <a:ea typeface="Calibri" pitchFamily="34" charset="-122"/>
                <a:cs typeface="Calibri" pitchFamily="34" charset="-120"/>
              </a:rPr>
              <a:t>AQI forecast</a:t>
            </a:r>
            <a:endParaRPr lang="en-US" sz="1200" dirty="0"/>
          </a:p>
          <a:p>
            <a:pPr indent="0" marL="0">
              <a:buNone/>
            </a:pPr>
            <a:r>
              <a:rPr lang="en-US" sz="1100" dirty="0">
                <a:solidFill>
                  <a:srgbClr val="E8F5EC"/>
                </a:solidFill>
                <a:latin typeface="Calibri" pitchFamily="34" charset="0"/>
                <a:ea typeface="Calibri" pitchFamily="34" charset="-122"/>
                <a:cs typeface="Calibri" pitchFamily="34" charset="-120"/>
              </a:rPr>
              <a:t>15 minutes to 72 hours ahead, with an 80% range</a:t>
            </a:r>
            <a:endParaRPr lang="en-US" sz="1200" dirty="0"/>
          </a:p>
        </p:txBody>
      </p:sp>
      <p:sp>
        <p:nvSpPr>
          <p:cNvPr id="7" name="Card Early warning"/>
          <p:cNvSpPr/>
          <p:nvPr/>
        </p:nvSpPr>
        <p:spPr>
          <a:xfrm>
            <a:off x="457200" y="1879092"/>
            <a:ext cx="3840480" cy="530352"/>
          </a:xfrm>
          <a:prstGeom prst="roundRect">
            <a:avLst>
              <a:gd name="adj" fmla="val 13793"/>
            </a:avLst>
          </a:prstGeom>
          <a:solidFill>
            <a:srgbClr val="0F2A1C"/>
          </a:solidFill>
          <a:ln w="12700">
            <a:solidFill>
              <a:srgbClr val="14532D"/>
            </a:solidFill>
            <a:prstDash val="solid"/>
          </a:ln>
        </p:spPr>
      </p:sp>
      <p:sp>
        <p:nvSpPr>
          <p:cNvPr id="8" name="Dot 2"/>
          <p:cNvSpPr/>
          <p:nvPr/>
        </p:nvSpPr>
        <p:spPr>
          <a:xfrm>
            <a:off x="566928" y="2034540"/>
            <a:ext cx="219456" cy="219456"/>
          </a:xfrm>
          <a:prstGeom prst="ellipse">
            <a:avLst/>
          </a:prstGeom>
          <a:solidFill>
            <a:srgbClr val="22C55E"/>
          </a:solidFill>
          <a:ln w="12700">
            <a:solidFill>
              <a:srgbClr val="22C55E"/>
            </a:solidFill>
            <a:prstDash val="solid"/>
          </a:ln>
        </p:spPr>
      </p:sp>
      <p:sp>
        <p:nvSpPr>
          <p:cNvPr id="9" name="Text 7"/>
          <p:cNvSpPr txBox="1"/>
          <p:nvPr/>
        </p:nvSpPr>
        <p:spPr>
          <a:xfrm>
            <a:off x="914400" y="1879092"/>
            <a:ext cx="3291840" cy="530352"/>
          </a:xfrm>
          <a:prstGeom prst="rect">
            <a:avLst/>
          </a:prstGeom>
          <a:noFill/>
          <a:ln/>
        </p:spPr>
        <p:txBody>
          <a:bodyPr wrap="square" lIns="0" tIns="0" rIns="0" bIns="0" rtlCol="0" anchor="ctr"/>
          <a:lstStyle/>
          <a:p>
            <a:pPr indent="0" marL="0">
              <a:buNone/>
            </a:pPr>
            <a:r>
              <a:rPr lang="en-US" sz="1200" b="1" dirty="0">
                <a:solidFill>
                  <a:srgbClr val="4ADE80"/>
                </a:solidFill>
                <a:latin typeface="Calibri" pitchFamily="34" charset="0"/>
                <a:ea typeface="Calibri" pitchFamily="34" charset="-122"/>
                <a:cs typeface="Calibri" pitchFamily="34" charset="-120"/>
              </a:rPr>
              <a:t>Early warning</a:t>
            </a:r>
            <a:endParaRPr lang="en-US" sz="1200" dirty="0"/>
          </a:p>
          <a:p>
            <a:pPr indent="0" marL="0">
              <a:buNone/>
            </a:pPr>
            <a:r>
              <a:rPr lang="en-US" sz="1100" dirty="0">
                <a:solidFill>
                  <a:srgbClr val="E8F5EC"/>
                </a:solidFill>
                <a:latin typeface="Calibri" pitchFamily="34" charset="0"/>
                <a:ea typeface="Calibri" pitchFamily="34" charset="-122"/>
                <a:cs typeface="Calibri" pitchFamily="34" charset="-120"/>
              </a:rPr>
              <a:t>Chance of Poor or Very Poor air in the next 3 hours</a:t>
            </a:r>
            <a:endParaRPr lang="en-US" sz="1200" dirty="0"/>
          </a:p>
        </p:txBody>
      </p:sp>
      <p:sp>
        <p:nvSpPr>
          <p:cNvPr id="10" name="Card Pollution source"/>
          <p:cNvSpPr/>
          <p:nvPr/>
        </p:nvSpPr>
        <p:spPr>
          <a:xfrm>
            <a:off x="457200" y="2478024"/>
            <a:ext cx="3840480" cy="530352"/>
          </a:xfrm>
          <a:prstGeom prst="roundRect">
            <a:avLst>
              <a:gd name="adj" fmla="val 13793"/>
            </a:avLst>
          </a:prstGeom>
          <a:solidFill>
            <a:srgbClr val="0F2A1C"/>
          </a:solidFill>
          <a:ln w="12700">
            <a:solidFill>
              <a:srgbClr val="14532D"/>
            </a:solidFill>
            <a:prstDash val="solid"/>
          </a:ln>
        </p:spPr>
      </p:sp>
      <p:sp>
        <p:nvSpPr>
          <p:cNvPr id="11" name="Dot 3"/>
          <p:cNvSpPr/>
          <p:nvPr/>
        </p:nvSpPr>
        <p:spPr>
          <a:xfrm>
            <a:off x="566928" y="2633472"/>
            <a:ext cx="219456" cy="219456"/>
          </a:xfrm>
          <a:prstGeom prst="ellipse">
            <a:avLst/>
          </a:prstGeom>
          <a:solidFill>
            <a:srgbClr val="22C55E"/>
          </a:solidFill>
          <a:ln w="12700">
            <a:solidFill>
              <a:srgbClr val="22C55E"/>
            </a:solidFill>
            <a:prstDash val="solid"/>
          </a:ln>
        </p:spPr>
      </p:sp>
      <p:sp>
        <p:nvSpPr>
          <p:cNvPr id="12" name="Text 10"/>
          <p:cNvSpPr txBox="1"/>
          <p:nvPr/>
        </p:nvSpPr>
        <p:spPr>
          <a:xfrm>
            <a:off x="914400" y="2478024"/>
            <a:ext cx="3291840" cy="530352"/>
          </a:xfrm>
          <a:prstGeom prst="rect">
            <a:avLst/>
          </a:prstGeom>
          <a:noFill/>
          <a:ln/>
        </p:spPr>
        <p:txBody>
          <a:bodyPr wrap="square" lIns="0" tIns="0" rIns="0" bIns="0" rtlCol="0" anchor="ctr"/>
          <a:lstStyle/>
          <a:p>
            <a:pPr indent="0" marL="0">
              <a:buNone/>
            </a:pPr>
            <a:r>
              <a:rPr lang="en-US" sz="1200" b="1" dirty="0">
                <a:solidFill>
                  <a:srgbClr val="4ADE80"/>
                </a:solidFill>
                <a:latin typeface="Calibri" pitchFamily="34" charset="0"/>
                <a:ea typeface="Calibri" pitchFamily="34" charset="-122"/>
                <a:cs typeface="Calibri" pitchFamily="34" charset="-120"/>
              </a:rPr>
              <a:t>Pollution source</a:t>
            </a:r>
            <a:endParaRPr lang="en-US" sz="1200" dirty="0"/>
          </a:p>
          <a:p>
            <a:pPr indent="0" marL="0">
              <a:buNone/>
            </a:pPr>
            <a:r>
              <a:rPr lang="en-US" sz="1100" dirty="0">
                <a:solidFill>
                  <a:srgbClr val="E8F5EC"/>
                </a:solidFill>
                <a:latin typeface="Calibri" pitchFamily="34" charset="0"/>
                <a:ea typeface="Calibri" pitchFamily="34" charset="-122"/>
                <a:cs typeface="Calibri" pitchFamily="34" charset="-120"/>
              </a:rPr>
              <a:t>Traffic, dust, smoke or industrial, with a confidence score</a:t>
            </a:r>
            <a:endParaRPr lang="en-US" sz="1200" dirty="0"/>
          </a:p>
        </p:txBody>
      </p:sp>
      <p:sp>
        <p:nvSpPr>
          <p:cNvPr id="13" name="Card City heatmap"/>
          <p:cNvSpPr/>
          <p:nvPr/>
        </p:nvSpPr>
        <p:spPr>
          <a:xfrm>
            <a:off x="457200" y="3076956"/>
            <a:ext cx="3840480" cy="530352"/>
          </a:xfrm>
          <a:prstGeom prst="roundRect">
            <a:avLst>
              <a:gd name="adj" fmla="val 13793"/>
            </a:avLst>
          </a:prstGeom>
          <a:solidFill>
            <a:srgbClr val="0F2A1C"/>
          </a:solidFill>
          <a:ln w="12700">
            <a:solidFill>
              <a:srgbClr val="14532D"/>
            </a:solidFill>
            <a:prstDash val="solid"/>
          </a:ln>
        </p:spPr>
      </p:sp>
      <p:sp>
        <p:nvSpPr>
          <p:cNvPr id="14" name="Dot 4"/>
          <p:cNvSpPr/>
          <p:nvPr/>
        </p:nvSpPr>
        <p:spPr>
          <a:xfrm>
            <a:off x="566928" y="3232404"/>
            <a:ext cx="219456" cy="219456"/>
          </a:xfrm>
          <a:prstGeom prst="ellipse">
            <a:avLst/>
          </a:prstGeom>
          <a:solidFill>
            <a:srgbClr val="22C55E"/>
          </a:solidFill>
          <a:ln w="12700">
            <a:solidFill>
              <a:srgbClr val="22C55E"/>
            </a:solidFill>
            <a:prstDash val="solid"/>
          </a:ln>
        </p:spPr>
      </p:sp>
      <p:sp>
        <p:nvSpPr>
          <p:cNvPr id="15" name="Text 13"/>
          <p:cNvSpPr txBox="1"/>
          <p:nvPr/>
        </p:nvSpPr>
        <p:spPr>
          <a:xfrm>
            <a:off x="914400" y="3076956"/>
            <a:ext cx="3291840" cy="530352"/>
          </a:xfrm>
          <a:prstGeom prst="rect">
            <a:avLst/>
          </a:prstGeom>
          <a:noFill/>
          <a:ln/>
        </p:spPr>
        <p:txBody>
          <a:bodyPr wrap="square" lIns="0" tIns="0" rIns="0" bIns="0" rtlCol="0" anchor="ctr"/>
          <a:lstStyle/>
          <a:p>
            <a:pPr indent="0" marL="0">
              <a:buNone/>
            </a:pPr>
            <a:r>
              <a:rPr lang="en-US" sz="1200" b="1" dirty="0">
                <a:solidFill>
                  <a:srgbClr val="4ADE80"/>
                </a:solidFill>
                <a:latin typeface="Calibri" pitchFamily="34" charset="0"/>
                <a:ea typeface="Calibri" pitchFamily="34" charset="-122"/>
                <a:cs typeface="Calibri" pitchFamily="34" charset="-120"/>
              </a:rPr>
              <a:t>City heatmap</a:t>
            </a:r>
            <a:endParaRPr lang="en-US" sz="1200" dirty="0"/>
          </a:p>
          <a:p>
            <a:pPr indent="0" marL="0">
              <a:buNone/>
            </a:pPr>
            <a:r>
              <a:rPr lang="en-US" sz="1100" dirty="0">
                <a:solidFill>
                  <a:srgbClr val="E8F5EC"/>
                </a:solidFill>
                <a:latin typeface="Calibri" pitchFamily="34" charset="0"/>
                <a:ea typeface="Calibri" pitchFamily="34" charset="-122"/>
                <a:cs typeface="Calibri" pitchFamily="34" charset="-120"/>
              </a:rPr>
              <a:t>Estimated AQI between sensors, with its uncertainty</a:t>
            </a:r>
            <a:endParaRPr lang="en-US" sz="1200" dirty="0"/>
          </a:p>
        </p:txBody>
      </p:sp>
      <p:sp>
        <p:nvSpPr>
          <p:cNvPr id="16" name="Card Hotspots and spikes"/>
          <p:cNvSpPr/>
          <p:nvPr/>
        </p:nvSpPr>
        <p:spPr>
          <a:xfrm>
            <a:off x="457200" y="3675888"/>
            <a:ext cx="3840480" cy="530352"/>
          </a:xfrm>
          <a:prstGeom prst="roundRect">
            <a:avLst>
              <a:gd name="adj" fmla="val 13793"/>
            </a:avLst>
          </a:prstGeom>
          <a:solidFill>
            <a:srgbClr val="0F2A1C"/>
          </a:solidFill>
          <a:ln w="12700">
            <a:solidFill>
              <a:srgbClr val="14532D"/>
            </a:solidFill>
            <a:prstDash val="solid"/>
          </a:ln>
        </p:spPr>
      </p:sp>
      <p:sp>
        <p:nvSpPr>
          <p:cNvPr id="17" name="Dot 5"/>
          <p:cNvSpPr/>
          <p:nvPr/>
        </p:nvSpPr>
        <p:spPr>
          <a:xfrm>
            <a:off x="566928" y="3831336"/>
            <a:ext cx="219456" cy="219456"/>
          </a:xfrm>
          <a:prstGeom prst="ellipse">
            <a:avLst/>
          </a:prstGeom>
          <a:solidFill>
            <a:srgbClr val="22C55E"/>
          </a:solidFill>
          <a:ln w="12700">
            <a:solidFill>
              <a:srgbClr val="22C55E"/>
            </a:solidFill>
            <a:prstDash val="solid"/>
          </a:ln>
        </p:spPr>
      </p:sp>
      <p:sp>
        <p:nvSpPr>
          <p:cNvPr id="18" name="Text 16"/>
          <p:cNvSpPr txBox="1"/>
          <p:nvPr/>
        </p:nvSpPr>
        <p:spPr>
          <a:xfrm>
            <a:off x="914400" y="3675888"/>
            <a:ext cx="3291840" cy="530352"/>
          </a:xfrm>
          <a:prstGeom prst="rect">
            <a:avLst/>
          </a:prstGeom>
          <a:noFill/>
          <a:ln/>
        </p:spPr>
        <p:txBody>
          <a:bodyPr wrap="square" lIns="0" tIns="0" rIns="0" bIns="0" rtlCol="0" anchor="ctr"/>
          <a:lstStyle/>
          <a:p>
            <a:pPr indent="0" marL="0">
              <a:buNone/>
            </a:pPr>
            <a:r>
              <a:rPr lang="en-US" sz="1200" b="1" dirty="0">
                <a:solidFill>
                  <a:srgbClr val="4ADE80"/>
                </a:solidFill>
                <a:latin typeface="Calibri" pitchFamily="34" charset="0"/>
                <a:ea typeface="Calibri" pitchFamily="34" charset="-122"/>
                <a:cs typeface="Calibri" pitchFamily="34" charset="-120"/>
              </a:rPr>
              <a:t>Hotspots and spikes</a:t>
            </a:r>
            <a:endParaRPr lang="en-US" sz="1200" dirty="0"/>
          </a:p>
          <a:p>
            <a:pPr indent="0" marL="0">
              <a:buNone/>
            </a:pPr>
            <a:r>
              <a:rPr lang="en-US" sz="1100" dirty="0">
                <a:solidFill>
                  <a:srgbClr val="E8F5EC"/>
                </a:solidFill>
                <a:latin typeface="Calibri" pitchFamily="34" charset="0"/>
                <a:ea typeface="Calibri" pitchFamily="34" charset="-122"/>
                <a:cs typeface="Calibri" pitchFamily="34" charset="-120"/>
              </a:rPr>
              <a:t>Persistent problem spots and sudden unusual rises</a:t>
            </a:r>
            <a:endParaRPr lang="en-US" sz="1200" dirty="0"/>
          </a:p>
        </p:txBody>
      </p:sp>
      <p:sp>
        <p:nvSpPr>
          <p:cNvPr id="19" name="Shot overview"/>
          <p:cNvSpPr/>
          <p:nvPr/>
        </p:nvSpPr>
        <p:spPr>
          <a:xfrm>
            <a:off x="4526280" y="1280160"/>
            <a:ext cx="4160520" cy="1417320"/>
          </a:xfrm>
          <a:prstGeom prst="roundRect">
            <a:avLst>
              <a:gd name="adj" fmla="val 6452"/>
            </a:avLst>
          </a:prstGeom>
          <a:solidFill>
            <a:srgbClr val="0B1F15"/>
          </a:solidFill>
          <a:ln w="19050">
            <a:solidFill>
              <a:srgbClr val="22C55E"/>
            </a:solidFill>
            <a:prstDash val="dash"/>
          </a:ln>
        </p:spPr>
      </p:sp>
      <p:sp>
        <p:nvSpPr>
          <p:cNvPr id="20" name="Shot overview label"/>
          <p:cNvSpPr txBox="1"/>
          <p:nvPr/>
        </p:nvSpPr>
        <p:spPr>
          <a:xfrm>
            <a:off x="4526280" y="1280160"/>
            <a:ext cx="4160520" cy="1417320"/>
          </a:xfrm>
          <a:prstGeom prst="rect">
            <a:avLst/>
          </a:prstGeom>
          <a:noFill/>
          <a:ln/>
        </p:spPr>
        <p:txBody>
          <a:bodyPr wrap="square" lIns="76200" tIns="76200" rIns="76200" bIns="76200" rtlCol="0" anchor="ctr"/>
          <a:lstStyle/>
          <a:p>
            <a:pPr algn="ctr" indent="0" marL="0">
              <a:buNone/>
            </a:pPr>
            <a:r>
              <a:rPr lang="en-US" sz="1100" b="1" dirty="0">
                <a:solidFill>
                  <a:srgbClr val="4ADE80"/>
                </a:solidFill>
                <a:latin typeface="Calibri" pitchFamily="34" charset="0"/>
                <a:ea typeface="Calibri" pitchFamily="34" charset="-122"/>
                <a:cs typeface="Calibri" pitchFamily="34" charset="-120"/>
              </a:rPr>
              <a:t>SCREENSHOT</a:t>
            </a:r>
            <a:endParaRPr lang="en-US" sz="1100" dirty="0"/>
          </a:p>
          <a:p>
            <a:pPr algn="ctr" indent="0" marL="0">
              <a:buNone/>
            </a:pPr>
            <a:r>
              <a:rPr lang="en-US" sz="1100" dirty="0">
                <a:solidFill>
                  <a:srgbClr val="8FB5A0"/>
                </a:solidFill>
                <a:latin typeface="Calibri" pitchFamily="34" charset="0"/>
                <a:ea typeface="Calibri" pitchFamily="34" charset="-122"/>
                <a:cs typeface="Calibri" pitchFamily="34" charset="-120"/>
              </a:rPr>
              <a:t>1. Overview</a:t>
            </a:r>
            <a:endParaRPr lang="en-US" sz="1100" dirty="0"/>
          </a:p>
        </p:txBody>
      </p:sp>
      <p:sp>
        <p:nvSpPr>
          <p:cNvPr id="21" name="Shot heatmap"/>
          <p:cNvSpPr/>
          <p:nvPr/>
        </p:nvSpPr>
        <p:spPr>
          <a:xfrm>
            <a:off x="4526280" y="2788920"/>
            <a:ext cx="2029968" cy="1444752"/>
          </a:xfrm>
          <a:prstGeom prst="roundRect">
            <a:avLst>
              <a:gd name="adj" fmla="val 6329"/>
            </a:avLst>
          </a:prstGeom>
          <a:solidFill>
            <a:srgbClr val="0B1F15"/>
          </a:solidFill>
          <a:ln w="19050">
            <a:solidFill>
              <a:srgbClr val="22C55E"/>
            </a:solidFill>
            <a:prstDash val="dash"/>
          </a:ln>
        </p:spPr>
      </p:sp>
      <p:sp>
        <p:nvSpPr>
          <p:cNvPr id="22" name="Shot heatmap label"/>
          <p:cNvSpPr txBox="1"/>
          <p:nvPr/>
        </p:nvSpPr>
        <p:spPr>
          <a:xfrm>
            <a:off x="4526280" y="2788920"/>
            <a:ext cx="2029968" cy="1444752"/>
          </a:xfrm>
          <a:prstGeom prst="rect">
            <a:avLst/>
          </a:prstGeom>
          <a:noFill/>
          <a:ln/>
        </p:spPr>
        <p:txBody>
          <a:bodyPr wrap="square" lIns="76200" tIns="76200" rIns="76200" bIns="76200" rtlCol="0" anchor="ctr"/>
          <a:lstStyle/>
          <a:p>
            <a:pPr algn="ctr" indent="0" marL="0">
              <a:buNone/>
            </a:pPr>
            <a:r>
              <a:rPr lang="en-US" sz="1100" b="1" dirty="0">
                <a:solidFill>
                  <a:srgbClr val="4ADE80"/>
                </a:solidFill>
                <a:latin typeface="Calibri" pitchFamily="34" charset="0"/>
                <a:ea typeface="Calibri" pitchFamily="34" charset="-122"/>
                <a:cs typeface="Calibri" pitchFamily="34" charset="-120"/>
              </a:rPr>
              <a:t>SCREENSHOT</a:t>
            </a:r>
            <a:endParaRPr lang="en-US" sz="1100" dirty="0"/>
          </a:p>
          <a:p>
            <a:pPr algn="ctr" indent="0" marL="0">
              <a:buNone/>
            </a:pPr>
            <a:r>
              <a:rPr lang="en-US" sz="1100" dirty="0">
                <a:solidFill>
                  <a:srgbClr val="8FB5A0"/>
                </a:solidFill>
                <a:latin typeface="Calibri" pitchFamily="34" charset="0"/>
                <a:ea typeface="Calibri" pitchFamily="34" charset="-122"/>
                <a:cs typeface="Calibri" pitchFamily="34" charset="-120"/>
              </a:rPr>
              <a:t>2. Heatmap</a:t>
            </a:r>
            <a:endParaRPr lang="en-US" sz="1100" dirty="0"/>
          </a:p>
        </p:txBody>
      </p:sp>
      <p:sp>
        <p:nvSpPr>
          <p:cNvPr id="23" name="Shot livemap"/>
          <p:cNvSpPr/>
          <p:nvPr/>
        </p:nvSpPr>
        <p:spPr>
          <a:xfrm>
            <a:off x="6656832" y="2788920"/>
            <a:ext cx="2029968" cy="1444752"/>
          </a:xfrm>
          <a:prstGeom prst="roundRect">
            <a:avLst>
              <a:gd name="adj" fmla="val 6329"/>
            </a:avLst>
          </a:prstGeom>
          <a:solidFill>
            <a:srgbClr val="0B1F15"/>
          </a:solidFill>
          <a:ln w="19050">
            <a:solidFill>
              <a:srgbClr val="22C55E"/>
            </a:solidFill>
            <a:prstDash val="dash"/>
          </a:ln>
        </p:spPr>
      </p:sp>
      <p:sp>
        <p:nvSpPr>
          <p:cNvPr id="24" name="Shot livemap label"/>
          <p:cNvSpPr txBox="1"/>
          <p:nvPr/>
        </p:nvSpPr>
        <p:spPr>
          <a:xfrm>
            <a:off x="6656832" y="2788920"/>
            <a:ext cx="2029968" cy="1444752"/>
          </a:xfrm>
          <a:prstGeom prst="rect">
            <a:avLst/>
          </a:prstGeom>
          <a:noFill/>
          <a:ln/>
        </p:spPr>
        <p:txBody>
          <a:bodyPr wrap="square" lIns="76200" tIns="76200" rIns="76200" bIns="76200" rtlCol="0" anchor="ctr"/>
          <a:lstStyle/>
          <a:p>
            <a:pPr algn="ctr" indent="0" marL="0">
              <a:buNone/>
            </a:pPr>
            <a:r>
              <a:rPr lang="en-US" sz="1100" b="1" dirty="0">
                <a:solidFill>
                  <a:srgbClr val="4ADE80"/>
                </a:solidFill>
                <a:latin typeface="Calibri" pitchFamily="34" charset="0"/>
                <a:ea typeface="Calibri" pitchFamily="34" charset="-122"/>
                <a:cs typeface="Calibri" pitchFamily="34" charset="-120"/>
              </a:rPr>
              <a:t>SCREENSHOT</a:t>
            </a:r>
            <a:endParaRPr lang="en-US" sz="1100" dirty="0"/>
          </a:p>
          <a:p>
            <a:pPr algn="ctr" indent="0" marL="0">
              <a:buNone/>
            </a:pPr>
            <a:r>
              <a:rPr lang="en-US" sz="1100" dirty="0">
                <a:solidFill>
                  <a:srgbClr val="8FB5A0"/>
                </a:solidFill>
                <a:latin typeface="Calibri" pitchFamily="34" charset="0"/>
                <a:ea typeface="Calibri" pitchFamily="34" charset="-122"/>
                <a:cs typeface="Calibri" pitchFamily="34" charset="-120"/>
              </a:rPr>
              <a:t>3. Live map</a:t>
            </a:r>
            <a:endParaRPr lang="en-US" sz="1100" dirty="0"/>
          </a:p>
        </p:txBody>
      </p:sp>
      <p:sp>
        <p:nvSpPr>
          <p:cNvPr id="25" name="Footnote"/>
          <p:cNvSpPr txBox="1"/>
          <p:nvPr/>
        </p:nvSpPr>
        <p:spPr>
          <a:xfrm>
            <a:off x="457200" y="4754880"/>
            <a:ext cx="8229600" cy="201168"/>
          </a:xfrm>
          <a:prstGeom prst="rect">
            <a:avLst/>
          </a:prstGeom>
          <a:noFill/>
          <a:ln/>
        </p:spPr>
        <p:txBody>
          <a:bodyPr wrap="square" lIns="0" tIns="0" rIns="0" bIns="0" rtlCol="0" anchor="ctr"/>
          <a:lstStyle/>
          <a:p>
            <a:pPr indent="0" marL="0">
              <a:buNone/>
            </a:pPr>
            <a:r>
              <a:rPr lang="en-US" sz="1000" dirty="0">
                <a:solidFill>
                  <a:srgbClr val="8FB5A0"/>
                </a:solidFill>
                <a:latin typeface="Calibri" pitchFamily="34" charset="0"/>
                <a:ea typeface="Calibri" pitchFamily="34" charset="-122"/>
                <a:cs typeface="Calibri" pitchFamily="34" charset="-120"/>
              </a:rPr>
              <a:t>Sensor data is simulated through a gateway using the real data format. AQI is indicative, not an official reading.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1B"/>
        </a:solidFill>
      </p:bgPr>
    </p:bg>
    <p:spTree>
      <p:nvGrpSpPr>
        <p:cNvPr id="1" name=""/>
        <p:cNvGrpSpPr/>
        <p:nvPr/>
      </p:nvGrpSpPr>
      <p:grpSpPr>
        <a:xfrm>
          <a:off x="0" y="0"/>
          <a:ext cx="0" cy="0"/>
          <a:chOff x="0" y="0"/>
          <a:chExt cx="0" cy="0"/>
        </a:xfrm>
      </p:grpSpPr>
      <p:sp>
        <p:nvSpPr>
          <p:cNvPr id="2" name="Title"/>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E8F5EC"/>
                </a:solidFill>
                <a:latin typeface="Calibri" pitchFamily="34" charset="0"/>
                <a:ea typeface="Calibri" pitchFamily="34" charset="-122"/>
                <a:cs typeface="Calibri" pitchFamily="34" charset="-120"/>
              </a:rPr>
              <a:t>How it works</a:t>
            </a:r>
            <a:endParaRPr lang="en-US" sz="3000" dirty="0"/>
          </a:p>
        </p:txBody>
      </p:sp>
      <p:sp>
        <p:nvSpPr>
          <p:cNvPr id="3" name="Subtitle"/>
          <p:cNvSpPr txBox="1"/>
          <p:nvPr/>
        </p:nvSpPr>
        <p:spPr>
          <a:xfrm>
            <a:off x="457200" y="822960"/>
            <a:ext cx="8229600" cy="274320"/>
          </a:xfrm>
          <a:prstGeom prst="rect">
            <a:avLst/>
          </a:prstGeom>
          <a:noFill/>
          <a:ln/>
        </p:spPr>
        <p:txBody>
          <a:bodyPr wrap="square" lIns="0" tIns="0" rIns="0" bIns="0" rtlCol="0" anchor="ctr"/>
          <a:lstStyle/>
          <a:p>
            <a:pPr indent="0" marL="0">
              <a:buNone/>
            </a:pPr>
            <a:r>
              <a:rPr lang="en-US" sz="1400" dirty="0">
                <a:solidFill>
                  <a:srgbClr val="4ADE80"/>
                </a:solidFill>
                <a:latin typeface="Calibri" pitchFamily="34" charset="0"/>
                <a:ea typeface="Calibri" pitchFamily="34" charset="-122"/>
                <a:cs typeface="Calibri" pitchFamily="34" charset="-120"/>
              </a:rPr>
              <a:t>From street sensors to the dashboard, built in Python</a:t>
            </a:r>
            <a:endParaRPr lang="en-US" sz="1400" dirty="0"/>
          </a:p>
        </p:txBody>
      </p:sp>
      <p:sp>
        <p:nvSpPr>
          <p:cNvPr id="4" name="Flow Sensor nodes"/>
          <p:cNvSpPr/>
          <p:nvPr/>
        </p:nvSpPr>
        <p:spPr>
          <a:xfrm>
            <a:off x="457200" y="1188720"/>
            <a:ext cx="1188720" cy="502920"/>
          </a:xfrm>
          <a:prstGeom prst="roundRect">
            <a:avLst>
              <a:gd name="adj" fmla="val 18182"/>
            </a:avLst>
          </a:prstGeom>
          <a:solidFill>
            <a:srgbClr val="0F2A1C"/>
          </a:solidFill>
          <a:ln w="12700">
            <a:solidFill>
              <a:srgbClr val="14532D"/>
            </a:solidFill>
            <a:prstDash val="solid"/>
          </a:ln>
        </p:spPr>
      </p:sp>
      <p:sp>
        <p:nvSpPr>
          <p:cNvPr id="5" name="Text 3"/>
          <p:cNvSpPr txBox="1"/>
          <p:nvPr/>
        </p:nvSpPr>
        <p:spPr>
          <a:xfrm>
            <a:off x="457200" y="1188720"/>
            <a:ext cx="1188720" cy="502920"/>
          </a:xfrm>
          <a:prstGeom prst="rect">
            <a:avLst/>
          </a:prstGeom>
          <a:noFill/>
          <a:ln/>
        </p:spPr>
        <p:txBody>
          <a:bodyPr wrap="square" lIns="25400" tIns="25400" rIns="25400" bIns="25400" rtlCol="0" anchor="ctr"/>
          <a:lstStyle/>
          <a:p>
            <a:pPr algn="ctr" indent="0" marL="0">
              <a:buNone/>
            </a:pPr>
            <a:r>
              <a:rPr lang="en-US" sz="1100" b="1" dirty="0">
                <a:solidFill>
                  <a:srgbClr val="E8F5EC"/>
                </a:solidFill>
                <a:latin typeface="Calibri" pitchFamily="34" charset="0"/>
                <a:ea typeface="Calibri" pitchFamily="34" charset="-122"/>
                <a:cs typeface="Calibri" pitchFamily="34" charset="-120"/>
              </a:rPr>
              <a:t>Sensor nodes</a:t>
            </a:r>
            <a:endParaRPr lang="en-US" sz="1100" dirty="0"/>
          </a:p>
        </p:txBody>
      </p:sp>
      <p:sp>
        <p:nvSpPr>
          <p:cNvPr id="6" name="Text 4"/>
          <p:cNvSpPr txBox="1"/>
          <p:nvPr/>
        </p:nvSpPr>
        <p:spPr>
          <a:xfrm>
            <a:off x="1645920" y="1188720"/>
            <a:ext cx="219456" cy="50292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7" name="Flow Gateway"/>
          <p:cNvSpPr/>
          <p:nvPr/>
        </p:nvSpPr>
        <p:spPr>
          <a:xfrm>
            <a:off x="1865376" y="1188720"/>
            <a:ext cx="1188720" cy="502920"/>
          </a:xfrm>
          <a:prstGeom prst="roundRect">
            <a:avLst>
              <a:gd name="adj" fmla="val 18182"/>
            </a:avLst>
          </a:prstGeom>
          <a:solidFill>
            <a:srgbClr val="0F2A1C"/>
          </a:solidFill>
          <a:ln w="12700">
            <a:solidFill>
              <a:srgbClr val="14532D"/>
            </a:solidFill>
            <a:prstDash val="solid"/>
          </a:ln>
        </p:spPr>
      </p:sp>
      <p:sp>
        <p:nvSpPr>
          <p:cNvPr id="8" name="Text 6"/>
          <p:cNvSpPr txBox="1"/>
          <p:nvPr/>
        </p:nvSpPr>
        <p:spPr>
          <a:xfrm>
            <a:off x="1865376" y="1188720"/>
            <a:ext cx="1188720" cy="502920"/>
          </a:xfrm>
          <a:prstGeom prst="rect">
            <a:avLst/>
          </a:prstGeom>
          <a:noFill/>
          <a:ln/>
        </p:spPr>
        <p:txBody>
          <a:bodyPr wrap="square" lIns="25400" tIns="25400" rIns="25400" bIns="25400" rtlCol="0" anchor="ctr"/>
          <a:lstStyle/>
          <a:p>
            <a:pPr algn="ctr" indent="0" marL="0">
              <a:buNone/>
            </a:pPr>
            <a:r>
              <a:rPr lang="en-US" sz="1100" b="1" dirty="0">
                <a:solidFill>
                  <a:srgbClr val="E8F5EC"/>
                </a:solidFill>
                <a:latin typeface="Calibri" pitchFamily="34" charset="0"/>
                <a:ea typeface="Calibri" pitchFamily="34" charset="-122"/>
                <a:cs typeface="Calibri" pitchFamily="34" charset="-120"/>
              </a:rPr>
              <a:t>Gateway</a:t>
            </a:r>
            <a:endParaRPr lang="en-US" sz="1100" dirty="0"/>
          </a:p>
        </p:txBody>
      </p:sp>
      <p:sp>
        <p:nvSpPr>
          <p:cNvPr id="9" name="Text 7"/>
          <p:cNvSpPr txBox="1"/>
          <p:nvPr/>
        </p:nvSpPr>
        <p:spPr>
          <a:xfrm>
            <a:off x="3054096" y="1188720"/>
            <a:ext cx="219456" cy="50292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10" name="Flow Ingest API"/>
          <p:cNvSpPr/>
          <p:nvPr/>
        </p:nvSpPr>
        <p:spPr>
          <a:xfrm>
            <a:off x="3273552" y="1188720"/>
            <a:ext cx="1188720" cy="502920"/>
          </a:xfrm>
          <a:prstGeom prst="roundRect">
            <a:avLst>
              <a:gd name="adj" fmla="val 18182"/>
            </a:avLst>
          </a:prstGeom>
          <a:solidFill>
            <a:srgbClr val="0F2A1C"/>
          </a:solidFill>
          <a:ln w="12700">
            <a:solidFill>
              <a:srgbClr val="14532D"/>
            </a:solidFill>
            <a:prstDash val="solid"/>
          </a:ln>
        </p:spPr>
      </p:sp>
      <p:sp>
        <p:nvSpPr>
          <p:cNvPr id="11" name="Text 9"/>
          <p:cNvSpPr txBox="1"/>
          <p:nvPr/>
        </p:nvSpPr>
        <p:spPr>
          <a:xfrm>
            <a:off x="3273552" y="1188720"/>
            <a:ext cx="1188720" cy="502920"/>
          </a:xfrm>
          <a:prstGeom prst="rect">
            <a:avLst/>
          </a:prstGeom>
          <a:noFill/>
          <a:ln/>
        </p:spPr>
        <p:txBody>
          <a:bodyPr wrap="square" lIns="25400" tIns="25400" rIns="25400" bIns="25400" rtlCol="0" anchor="ctr"/>
          <a:lstStyle/>
          <a:p>
            <a:pPr algn="ctr" indent="0" marL="0">
              <a:buNone/>
            </a:pPr>
            <a:r>
              <a:rPr lang="en-US" sz="1100" b="1" dirty="0">
                <a:solidFill>
                  <a:srgbClr val="E8F5EC"/>
                </a:solidFill>
                <a:latin typeface="Calibri" pitchFamily="34" charset="0"/>
                <a:ea typeface="Calibri" pitchFamily="34" charset="-122"/>
                <a:cs typeface="Calibri" pitchFamily="34" charset="-120"/>
              </a:rPr>
              <a:t>Ingest API</a:t>
            </a:r>
            <a:endParaRPr lang="en-US" sz="1100" dirty="0"/>
          </a:p>
        </p:txBody>
      </p:sp>
      <p:sp>
        <p:nvSpPr>
          <p:cNvPr id="12" name="Text 10"/>
          <p:cNvSpPr txBox="1"/>
          <p:nvPr/>
        </p:nvSpPr>
        <p:spPr>
          <a:xfrm>
            <a:off x="4462272" y="1188720"/>
            <a:ext cx="219456" cy="50292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13" name="Flow Database"/>
          <p:cNvSpPr/>
          <p:nvPr/>
        </p:nvSpPr>
        <p:spPr>
          <a:xfrm>
            <a:off x="4681728" y="1188720"/>
            <a:ext cx="1188720" cy="502920"/>
          </a:xfrm>
          <a:prstGeom prst="roundRect">
            <a:avLst>
              <a:gd name="adj" fmla="val 18182"/>
            </a:avLst>
          </a:prstGeom>
          <a:solidFill>
            <a:srgbClr val="0F2A1C"/>
          </a:solidFill>
          <a:ln w="12700">
            <a:solidFill>
              <a:srgbClr val="14532D"/>
            </a:solidFill>
            <a:prstDash val="solid"/>
          </a:ln>
        </p:spPr>
      </p:sp>
      <p:sp>
        <p:nvSpPr>
          <p:cNvPr id="14" name="Text 12"/>
          <p:cNvSpPr txBox="1"/>
          <p:nvPr/>
        </p:nvSpPr>
        <p:spPr>
          <a:xfrm>
            <a:off x="4681728" y="1188720"/>
            <a:ext cx="1188720" cy="502920"/>
          </a:xfrm>
          <a:prstGeom prst="rect">
            <a:avLst/>
          </a:prstGeom>
          <a:noFill/>
          <a:ln/>
        </p:spPr>
        <p:txBody>
          <a:bodyPr wrap="square" lIns="25400" tIns="25400" rIns="25400" bIns="25400" rtlCol="0" anchor="ctr"/>
          <a:lstStyle/>
          <a:p>
            <a:pPr algn="ctr" indent="0" marL="0">
              <a:buNone/>
            </a:pPr>
            <a:r>
              <a:rPr lang="en-US" sz="1100" b="1" dirty="0">
                <a:solidFill>
                  <a:srgbClr val="E8F5EC"/>
                </a:solidFill>
                <a:latin typeface="Calibri" pitchFamily="34" charset="0"/>
                <a:ea typeface="Calibri" pitchFamily="34" charset="-122"/>
                <a:cs typeface="Calibri" pitchFamily="34" charset="-120"/>
              </a:rPr>
              <a:t>Database</a:t>
            </a:r>
            <a:endParaRPr lang="en-US" sz="1100" dirty="0"/>
          </a:p>
        </p:txBody>
      </p:sp>
      <p:sp>
        <p:nvSpPr>
          <p:cNvPr id="15" name="Text 13"/>
          <p:cNvSpPr txBox="1"/>
          <p:nvPr/>
        </p:nvSpPr>
        <p:spPr>
          <a:xfrm>
            <a:off x="5870448" y="1188720"/>
            <a:ext cx="219456" cy="50292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16" name="Flow Analytics + ML"/>
          <p:cNvSpPr/>
          <p:nvPr/>
        </p:nvSpPr>
        <p:spPr>
          <a:xfrm>
            <a:off x="6089904" y="1188720"/>
            <a:ext cx="1188720" cy="502920"/>
          </a:xfrm>
          <a:prstGeom prst="roundRect">
            <a:avLst>
              <a:gd name="adj" fmla="val 18182"/>
            </a:avLst>
          </a:prstGeom>
          <a:solidFill>
            <a:srgbClr val="0F2A1C"/>
          </a:solidFill>
          <a:ln w="12700">
            <a:solidFill>
              <a:srgbClr val="14532D"/>
            </a:solidFill>
            <a:prstDash val="solid"/>
          </a:ln>
        </p:spPr>
      </p:sp>
      <p:sp>
        <p:nvSpPr>
          <p:cNvPr id="17" name="Text 15"/>
          <p:cNvSpPr txBox="1"/>
          <p:nvPr/>
        </p:nvSpPr>
        <p:spPr>
          <a:xfrm>
            <a:off x="6089904" y="1188720"/>
            <a:ext cx="1188720" cy="502920"/>
          </a:xfrm>
          <a:prstGeom prst="rect">
            <a:avLst/>
          </a:prstGeom>
          <a:noFill/>
          <a:ln/>
        </p:spPr>
        <p:txBody>
          <a:bodyPr wrap="square" lIns="25400" tIns="25400" rIns="25400" bIns="25400" rtlCol="0" anchor="ctr"/>
          <a:lstStyle/>
          <a:p>
            <a:pPr algn="ctr" indent="0" marL="0">
              <a:buNone/>
            </a:pPr>
            <a:r>
              <a:rPr lang="en-US" sz="1100" b="1" dirty="0">
                <a:solidFill>
                  <a:srgbClr val="E8F5EC"/>
                </a:solidFill>
                <a:latin typeface="Calibri" pitchFamily="34" charset="0"/>
                <a:ea typeface="Calibri" pitchFamily="34" charset="-122"/>
                <a:cs typeface="Calibri" pitchFamily="34" charset="-120"/>
              </a:rPr>
              <a:t>Analytics + ML</a:t>
            </a:r>
            <a:endParaRPr lang="en-US" sz="1100" dirty="0"/>
          </a:p>
        </p:txBody>
      </p:sp>
      <p:sp>
        <p:nvSpPr>
          <p:cNvPr id="18" name="Text 16"/>
          <p:cNvSpPr txBox="1"/>
          <p:nvPr/>
        </p:nvSpPr>
        <p:spPr>
          <a:xfrm>
            <a:off x="7278624" y="1188720"/>
            <a:ext cx="219456" cy="502920"/>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a:t>
            </a:r>
            <a:endParaRPr lang="en-US" sz="1400" dirty="0"/>
          </a:p>
        </p:txBody>
      </p:sp>
      <p:sp>
        <p:nvSpPr>
          <p:cNvPr id="19" name="Flow Website + Dashboard"/>
          <p:cNvSpPr/>
          <p:nvPr/>
        </p:nvSpPr>
        <p:spPr>
          <a:xfrm>
            <a:off x="7498080" y="1188720"/>
            <a:ext cx="1188720" cy="502920"/>
          </a:xfrm>
          <a:prstGeom prst="roundRect">
            <a:avLst>
              <a:gd name="adj" fmla="val 18182"/>
            </a:avLst>
          </a:prstGeom>
          <a:solidFill>
            <a:srgbClr val="22C55E"/>
          </a:solidFill>
          <a:ln w="12700">
            <a:solidFill>
              <a:srgbClr val="22C55E"/>
            </a:solidFill>
            <a:prstDash val="solid"/>
          </a:ln>
        </p:spPr>
      </p:sp>
      <p:sp>
        <p:nvSpPr>
          <p:cNvPr id="20" name="Text 18"/>
          <p:cNvSpPr txBox="1"/>
          <p:nvPr/>
        </p:nvSpPr>
        <p:spPr>
          <a:xfrm>
            <a:off x="7498080" y="1188720"/>
            <a:ext cx="1188720" cy="502920"/>
          </a:xfrm>
          <a:prstGeom prst="rect">
            <a:avLst/>
          </a:prstGeom>
          <a:noFill/>
          <a:ln/>
        </p:spPr>
        <p:txBody>
          <a:bodyPr wrap="square" lIns="25400" tIns="25400" rIns="25400" bIns="25400" rtlCol="0" anchor="ctr"/>
          <a:lstStyle/>
          <a:p>
            <a:pPr algn="ctr" indent="0" marL="0">
              <a:buNone/>
            </a:pPr>
            <a:r>
              <a:rPr lang="en-US" sz="1100" b="1" dirty="0">
                <a:solidFill>
                  <a:srgbClr val="1B1B1B"/>
                </a:solidFill>
                <a:latin typeface="Calibri" pitchFamily="34" charset="0"/>
                <a:ea typeface="Calibri" pitchFamily="34" charset="-122"/>
                <a:cs typeface="Calibri" pitchFamily="34" charset="-120"/>
              </a:rPr>
              <a:t>Website + Dashboard</a:t>
            </a:r>
            <a:endParaRPr lang="en-US" sz="1100" dirty="0"/>
          </a:p>
        </p:txBody>
      </p:sp>
      <p:graphicFrame>
        <p:nvGraphicFramePr>
          <p:cNvPr id="3" name="Tech stack"/>
          <p:cNvGraphicFramePr>
            <a:graphicFrameLocks noGrp="1"/>
          </p:cNvGraphicFramePr>
          <p:nvPr>
            <p:extLst>
              <p:ext uri="{D42A27DB-BD31-4B8C-83A1-F6EECF244321}">
                <p14:modId xmlns:p14="http://schemas.microsoft.com/office/powerpoint/2010/main" val="1579011935"/>
              </p:ext>
            </p:extLst>
          </p:nvPr>
        </p:nvGraphicFramePr>
        <p:xfrm>
          <a:off x="457200" y="1965960"/>
          <a:ext cx="3749040" cy="914400"/>
        </p:xfrm>
        <a:graphic>
          <a:graphicData uri="http://schemas.openxmlformats.org/drawingml/2006/table">
            <a:tbl>
              <a:tblPr/>
              <a:tblGrid>
                <a:gridCol w="1325880"/>
                <a:gridCol w="2423160"/>
              </a:tblGrid>
              <a:tr h="365760">
                <a:tc>
                  <a:txBody>
                    <a:bodyPr/>
                    <a:lstStyle/>
                    <a:p>
                      <a:pPr indent="0" marL="0">
                        <a:buNone/>
                      </a:pPr>
                      <a:r>
                        <a:rPr lang="en-US" sz="1100" b="1" dirty="0">
                          <a:solidFill>
                            <a:srgbClr val="1B1B1B"/>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22C55E"/>
                    </a:solidFill>
                  </a:tcPr>
                </a:tc>
                <a:tc>
                  <a:txBody>
                    <a:bodyPr/>
                    <a:lstStyle/>
                    <a:p>
                      <a:pPr indent="0" marL="0">
                        <a:buNone/>
                      </a:pPr>
                      <a:r>
                        <a:rPr lang="en-US" sz="1100" b="1" dirty="0">
                          <a:solidFill>
                            <a:srgbClr val="1B1B1B"/>
                          </a:solidFill>
                          <a:latin typeface="Calibri" pitchFamily="34" charset="0"/>
                          <a:ea typeface="Calibri" pitchFamily="34" charset="-122"/>
                          <a:cs typeface="Calibri" pitchFamily="34" charset="-120"/>
                        </a:rPr>
                        <a:t>Technology</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22C55E"/>
                    </a:solidFill>
                  </a:tcPr>
                </a:tc>
              </a:tr>
              <a:tr h="365760">
                <a:tc>
                  <a:txBody>
                    <a:bodyPr/>
                    <a:lstStyle/>
                    <a:p>
                      <a:pPr indent="0" marL="0">
                        <a:buNone/>
                      </a:pPr>
                      <a:r>
                        <a:rPr lang="en-US" sz="1100" b="1" dirty="0">
                          <a:solidFill>
                            <a:srgbClr val="4ADE80"/>
                          </a:solidFill>
                          <a:latin typeface="Calibri" pitchFamily="34" charset="0"/>
                          <a:ea typeface="Calibri" pitchFamily="34" charset="-122"/>
                          <a:cs typeface="Calibri" pitchFamily="34" charset="-120"/>
                        </a:rPr>
                        <a:t>Data and API</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100" dirty="0">
                          <a:solidFill>
                            <a:srgbClr val="E8F5EC"/>
                          </a:solidFill>
                          <a:latin typeface="Calibri" pitchFamily="34" charset="0"/>
                          <a:ea typeface="Calibri" pitchFamily="34" charset="-122"/>
                          <a:cs typeface="Calibri" pitchFamily="34" charset="-120"/>
                        </a:rPr>
                        <a:t>Pydantic, FastAPI, Uvicorn</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F2A1C"/>
                    </a:solidFill>
                  </a:tcPr>
                </a:tc>
              </a:tr>
              <a:tr h="365760">
                <a:tc>
                  <a:txBody>
                    <a:bodyPr/>
                    <a:lstStyle/>
                    <a:p>
                      <a:pPr indent="0" marL="0">
                        <a:buNone/>
                      </a:pPr>
                      <a:r>
                        <a:rPr lang="en-US" sz="1100" b="1" dirty="0">
                          <a:solidFill>
                            <a:srgbClr val="4ADE80"/>
                          </a:solidFill>
                          <a:latin typeface="Calibri" pitchFamily="34" charset="0"/>
                          <a:ea typeface="Calibri" pitchFamily="34" charset="-122"/>
                          <a:cs typeface="Calibri" pitchFamily="34" charset="-120"/>
                        </a:rPr>
                        <a:t>Storage</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100" dirty="0">
                          <a:solidFill>
                            <a:srgbClr val="E8F5EC"/>
                          </a:solidFill>
                          <a:latin typeface="Calibri" pitchFamily="34" charset="0"/>
                          <a:ea typeface="Calibri" pitchFamily="34" charset="-122"/>
                          <a:cs typeface="Calibri" pitchFamily="34" charset="-120"/>
                        </a:rPr>
                        <a:t>SQLAlchemy, SQLite</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B1F15"/>
                    </a:solidFill>
                  </a:tcPr>
                </a:tc>
              </a:tr>
              <a:tr h="365760">
                <a:tc>
                  <a:txBody>
                    <a:bodyPr/>
                    <a:lstStyle/>
                    <a:p>
                      <a:pPr indent="0" marL="0">
                        <a:buNone/>
                      </a:pPr>
                      <a:r>
                        <a:rPr lang="en-US" sz="1100" b="1" dirty="0">
                          <a:solidFill>
                            <a:srgbClr val="4ADE80"/>
                          </a:solidFill>
                          <a:latin typeface="Calibri" pitchFamily="34" charset="0"/>
                          <a:ea typeface="Calibri" pitchFamily="34" charset="-122"/>
                          <a:cs typeface="Calibri" pitchFamily="34" charset="-120"/>
                        </a:rPr>
                        <a:t>Analytics and ML</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100" dirty="0">
                          <a:solidFill>
                            <a:srgbClr val="E8F5EC"/>
                          </a:solidFill>
                          <a:latin typeface="Calibri" pitchFamily="34" charset="0"/>
                          <a:ea typeface="Calibri" pitchFamily="34" charset="-122"/>
                          <a:cs typeface="Calibri" pitchFamily="34" charset="-120"/>
                        </a:rPr>
                        <a:t>pandas, scikit-learn, statsmodels</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F2A1C"/>
                    </a:solidFill>
                  </a:tcPr>
                </a:tc>
              </a:tr>
              <a:tr h="365760">
                <a:tc>
                  <a:txBody>
                    <a:bodyPr/>
                    <a:lstStyle/>
                    <a:p>
                      <a:pPr indent="0" marL="0">
                        <a:buNone/>
                      </a:pPr>
                      <a:r>
                        <a:rPr lang="en-US" sz="1100" b="1" dirty="0">
                          <a:solidFill>
                            <a:srgbClr val="4ADE80"/>
                          </a:solidFill>
                          <a:latin typeface="Calibri" pitchFamily="34" charset="0"/>
                          <a:ea typeface="Calibri" pitchFamily="34" charset="-122"/>
                          <a:cs typeface="Calibri" pitchFamily="34" charset="-120"/>
                        </a:rPr>
                        <a:t>Dashboard</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100" dirty="0">
                          <a:solidFill>
                            <a:srgbClr val="E8F5EC"/>
                          </a:solidFill>
                          <a:latin typeface="Calibri" pitchFamily="34" charset="0"/>
                          <a:ea typeface="Calibri" pitchFamily="34" charset="-122"/>
                          <a:cs typeface="Calibri" pitchFamily="34" charset="-120"/>
                        </a:rPr>
                        <a:t>Streamlit, Altair, Folium</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B1F15"/>
                    </a:solidFill>
                  </a:tcPr>
                </a:tc>
              </a:tr>
              <a:tr h="365760">
                <a:tc>
                  <a:txBody>
                    <a:bodyPr/>
                    <a:lstStyle/>
                    <a:p>
                      <a:pPr indent="0" marL="0">
                        <a:buNone/>
                      </a:pPr>
                      <a:r>
                        <a:rPr lang="en-US" sz="1100" b="1" dirty="0">
                          <a:solidFill>
                            <a:srgbClr val="4ADE80"/>
                          </a:solidFill>
                          <a:latin typeface="Calibri" pitchFamily="34" charset="0"/>
                          <a:ea typeface="Calibri" pitchFamily="34" charset="-122"/>
                          <a:cs typeface="Calibri" pitchFamily="34" charset="-120"/>
                        </a:rPr>
                        <a:t>Website</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F2A1C"/>
                    </a:solidFill>
                  </a:tcPr>
                </a:tc>
                <a:tc>
                  <a:txBody>
                    <a:bodyPr/>
                    <a:lstStyle/>
                    <a:p>
                      <a:pPr indent="0" marL="0">
                        <a:buNone/>
                      </a:pPr>
                      <a:r>
                        <a:rPr lang="en-US" sz="1100" dirty="0">
                          <a:solidFill>
                            <a:srgbClr val="E8F5EC"/>
                          </a:solidFill>
                          <a:latin typeface="Calibri" pitchFamily="34" charset="0"/>
                          <a:ea typeface="Calibri" pitchFamily="34" charset="-122"/>
                          <a:cs typeface="Calibri" pitchFamily="34" charset="-120"/>
                        </a:rPr>
                        <a:t>HTML, CSS, JavaScript</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F2A1C"/>
                    </a:solidFill>
                  </a:tcPr>
                </a:tc>
              </a:tr>
              <a:tr h="365760">
                <a:tc>
                  <a:txBody>
                    <a:bodyPr/>
                    <a:lstStyle/>
                    <a:p>
                      <a:pPr indent="0" marL="0">
                        <a:buNone/>
                      </a:pPr>
                      <a:r>
                        <a:rPr lang="en-US" sz="1100" b="1" dirty="0">
                          <a:solidFill>
                            <a:srgbClr val="4ADE80"/>
                          </a:solidFill>
                          <a:latin typeface="Calibri" pitchFamily="34" charset="0"/>
                          <a:ea typeface="Calibri" pitchFamily="34" charset="-122"/>
                          <a:cs typeface="Calibri" pitchFamily="34" charset="-120"/>
                        </a:rPr>
                        <a:t>Security</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B1F15"/>
                    </a:solidFill>
                  </a:tcPr>
                </a:tc>
                <a:tc>
                  <a:txBody>
                    <a:bodyPr/>
                    <a:lstStyle/>
                    <a:p>
                      <a:pPr indent="0" marL="0">
                        <a:buNone/>
                      </a:pPr>
                      <a:r>
                        <a:rPr lang="en-US" sz="1100" dirty="0">
                          <a:solidFill>
                            <a:srgbClr val="E8F5EC"/>
                          </a:solidFill>
                          <a:latin typeface="Calibri" pitchFamily="34" charset="0"/>
                          <a:ea typeface="Calibri" pitchFamily="34" charset="-122"/>
                          <a:cs typeface="Calibri" pitchFamily="34" charset="-120"/>
                        </a:rPr>
                        <a:t>Roles, signed login cookie</a:t>
                      </a:r>
                      <a:endParaRPr lang="en-US" sz="1100" dirty="0">
                        <a:latin typeface="Calibri" charset="0"/>
                        <a:ea typeface="Calibri" charset="0"/>
                        <a:cs typeface="Calibri" charset="0"/>
                      </a:endParaRPr>
                    </a:p>
                  </a:txBody>
                  <a:tcPr marL="73152" marR="73152" marT="27432" marB="27432" anchor="ctr">
                    <a:lnL w="0" cap="flat" cmpd="sng" algn="ctr">
                      <a:noFill/>
                    </a:lnL>
                    <a:lnR w="0" cap="flat" cmpd="sng" algn="ctr">
                      <a:noFill/>
                    </a:lnR>
                    <a:lnT w="0" cap="flat" cmpd="sng" algn="ctr">
                      <a:noFill/>
                    </a:lnT>
                    <a:lnB w="0" cap="flat" cmpd="sng" algn="ctr">
                      <a:noFill/>
                    </a:lnB>
                    <a:solidFill>
                      <a:srgbClr val="0B1F15"/>
                    </a:solidFill>
                  </a:tcPr>
                </a:tc>
              </a:tr>
            </a:tbl>
          </a:graphicData>
        </a:graphic>
      </p:graphicFrame>
      <p:sp>
        <p:nvSpPr>
          <p:cNvPr id="22" name="Shot zone"/>
          <p:cNvSpPr/>
          <p:nvPr/>
        </p:nvSpPr>
        <p:spPr>
          <a:xfrm>
            <a:off x="4434840" y="1965960"/>
            <a:ext cx="4251960" cy="1280160"/>
          </a:xfrm>
          <a:prstGeom prst="roundRect">
            <a:avLst>
              <a:gd name="adj" fmla="val 7143"/>
            </a:avLst>
          </a:prstGeom>
          <a:solidFill>
            <a:srgbClr val="0B1F15"/>
          </a:solidFill>
          <a:ln w="19050">
            <a:solidFill>
              <a:srgbClr val="22C55E"/>
            </a:solidFill>
            <a:prstDash val="dash"/>
          </a:ln>
        </p:spPr>
      </p:sp>
      <p:sp>
        <p:nvSpPr>
          <p:cNvPr id="23" name="Shot zone label"/>
          <p:cNvSpPr txBox="1"/>
          <p:nvPr/>
        </p:nvSpPr>
        <p:spPr>
          <a:xfrm>
            <a:off x="4434840" y="1965960"/>
            <a:ext cx="4251960" cy="1280160"/>
          </a:xfrm>
          <a:prstGeom prst="rect">
            <a:avLst/>
          </a:prstGeom>
          <a:noFill/>
          <a:ln/>
        </p:spPr>
        <p:txBody>
          <a:bodyPr wrap="square" lIns="76200" tIns="76200" rIns="76200" bIns="76200" rtlCol="0" anchor="ctr"/>
          <a:lstStyle/>
          <a:p>
            <a:pPr algn="ctr" indent="0" marL="0">
              <a:buNone/>
            </a:pPr>
            <a:r>
              <a:rPr lang="en-US" sz="1100" b="1" dirty="0">
                <a:solidFill>
                  <a:srgbClr val="4ADE80"/>
                </a:solidFill>
                <a:latin typeface="Calibri" pitchFamily="34" charset="0"/>
                <a:ea typeface="Calibri" pitchFamily="34" charset="-122"/>
                <a:cs typeface="Calibri" pitchFamily="34" charset="-120"/>
              </a:rPr>
              <a:t>SCREENSHOT</a:t>
            </a:r>
            <a:endParaRPr lang="en-US" sz="1100" dirty="0"/>
          </a:p>
          <a:p>
            <a:pPr algn="ctr" indent="0" marL="0">
              <a:buNone/>
            </a:pPr>
            <a:r>
              <a:rPr lang="en-US" sz="1100" dirty="0">
                <a:solidFill>
                  <a:srgbClr val="8FB5A0"/>
                </a:solidFill>
                <a:latin typeface="Calibri" pitchFamily="34" charset="0"/>
                <a:ea typeface="Calibri" pitchFamily="34" charset="-122"/>
                <a:cs typeface="Calibri" pitchFamily="34" charset="-120"/>
              </a:rPr>
              <a:t>4. Zone detail</a:t>
            </a:r>
            <a:endParaRPr lang="en-US" sz="1100" dirty="0"/>
          </a:p>
        </p:txBody>
      </p:sp>
      <p:sp>
        <p:nvSpPr>
          <p:cNvPr id="24" name="Shot trends"/>
          <p:cNvSpPr/>
          <p:nvPr/>
        </p:nvSpPr>
        <p:spPr>
          <a:xfrm>
            <a:off x="4434840" y="3383280"/>
            <a:ext cx="4251960" cy="1280160"/>
          </a:xfrm>
          <a:prstGeom prst="roundRect">
            <a:avLst>
              <a:gd name="adj" fmla="val 7143"/>
            </a:avLst>
          </a:prstGeom>
          <a:solidFill>
            <a:srgbClr val="0B1F15"/>
          </a:solidFill>
          <a:ln w="19050">
            <a:solidFill>
              <a:srgbClr val="22C55E"/>
            </a:solidFill>
            <a:prstDash val="dash"/>
          </a:ln>
        </p:spPr>
      </p:sp>
      <p:sp>
        <p:nvSpPr>
          <p:cNvPr id="25" name="Shot trends label"/>
          <p:cNvSpPr txBox="1"/>
          <p:nvPr/>
        </p:nvSpPr>
        <p:spPr>
          <a:xfrm>
            <a:off x="4434840" y="3383280"/>
            <a:ext cx="4251960" cy="1280160"/>
          </a:xfrm>
          <a:prstGeom prst="rect">
            <a:avLst/>
          </a:prstGeom>
          <a:noFill/>
          <a:ln/>
        </p:spPr>
        <p:txBody>
          <a:bodyPr wrap="square" lIns="76200" tIns="76200" rIns="76200" bIns="76200" rtlCol="0" anchor="ctr"/>
          <a:lstStyle/>
          <a:p>
            <a:pPr algn="ctr" indent="0" marL="0">
              <a:buNone/>
            </a:pPr>
            <a:r>
              <a:rPr lang="en-US" sz="1100" b="1" dirty="0">
                <a:solidFill>
                  <a:srgbClr val="4ADE80"/>
                </a:solidFill>
                <a:latin typeface="Calibri" pitchFamily="34" charset="0"/>
                <a:ea typeface="Calibri" pitchFamily="34" charset="-122"/>
                <a:cs typeface="Calibri" pitchFamily="34" charset="-120"/>
              </a:rPr>
              <a:t>SCREENSHOT</a:t>
            </a:r>
            <a:endParaRPr lang="en-US" sz="1100" dirty="0"/>
          </a:p>
          <a:p>
            <a:pPr algn="ctr" indent="0" marL="0">
              <a:buNone/>
            </a:pPr>
            <a:r>
              <a:rPr lang="en-US" sz="1100" dirty="0">
                <a:solidFill>
                  <a:srgbClr val="8FB5A0"/>
                </a:solidFill>
                <a:latin typeface="Calibri" pitchFamily="34" charset="0"/>
                <a:ea typeface="Calibri" pitchFamily="34" charset="-122"/>
                <a:cs typeface="Calibri" pitchFamily="34" charset="-120"/>
              </a:rPr>
              <a:t>5. Trends</a:t>
            </a:r>
            <a:endParaRPr lang="en-US" sz="1100" dirty="0"/>
          </a:p>
        </p:txBody>
      </p:sp>
    </p:spTree>
  </p:cSld>
  <p:clrMapOvr>
    <a:masterClrMapping/>
  </p:clrMapOvr>
</p:sld>
</file>

<file path=ppt/theme/theme1.xml><?xml version="1.0" encoding="utf-8"?>
<a:theme xmlns:a="http://schemas.openxmlformats.org/drawingml/2006/main" name="Aeronex Black Green">
  <a:themeElements>
    <a:clrScheme name="Aeronex Black Green">
      <a:dk1>
        <a:srgbClr val="1B1B1B"/>
      </a:dk1>
      <a:lt1>
        <a:srgbClr val="E8F5EC"/>
      </a:lt1>
      <a:dk2>
        <a:srgbClr val="0F2A1C"/>
      </a:dk2>
      <a:lt2>
        <a:srgbClr val="8FB5A0"/>
      </a:lt2>
      <a:accent1>
        <a:srgbClr val="22C55E"/>
      </a:accent1>
      <a:accent2>
        <a:srgbClr val="4ADE80"/>
      </a:accent2>
      <a:accent3>
        <a:srgbClr val="166534"/>
      </a:accent3>
      <a:accent4>
        <a:srgbClr val="14532D"/>
      </a:accent4>
      <a:accent5>
        <a:srgbClr val="86EFAC"/>
      </a:accent5>
      <a:accent6>
        <a:srgbClr val="052E16"/>
      </a:accent6>
      <a:hlink>
        <a:srgbClr val="4ADE80"/>
      </a:hlink>
      <a:folHlink>
        <a:srgbClr val="86EFAC"/>
      </a:folHlink>
    </a:clrScheme>
    <a:fontScheme name="Aeronex Black Gree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Aeronex - software overview</dc:title>
  <dc:subject>PptxGenJS Presentation</dc:subject>
  <dc:creator>PptxGenJS</dc:creator>
  <cp:lastModifiedBy>PptxGenJS</cp:lastModifiedBy>
  <cp:revision>1</cp:revision>
  <dcterms:created xsi:type="dcterms:W3CDTF">2026-10-06T07:21:48Z</dcterms:created>
  <dcterms:modified xsi:type="dcterms:W3CDTF">2026-10-06T07:21:48Z</dcterms:modified>
</cp:coreProperties>
</file>